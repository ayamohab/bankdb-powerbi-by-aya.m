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9"/>
  </p:notesMasterIdLst>
  <p:sldIdLst>
    <p:sldId id="530" r:id="rId5"/>
    <p:sldId id="531" r:id="rId6"/>
    <p:sldId id="547" r:id="rId7"/>
    <p:sldId id="552" r:id="rId8"/>
    <p:sldId id="553" r:id="rId9"/>
    <p:sldId id="548" r:id="rId10"/>
    <p:sldId id="554" r:id="rId11"/>
    <p:sldId id="555" r:id="rId12"/>
    <p:sldId id="558" r:id="rId13"/>
    <p:sldId id="556" r:id="rId14"/>
    <p:sldId id="559" r:id="rId15"/>
    <p:sldId id="557" r:id="rId16"/>
    <p:sldId id="560" r:id="rId17"/>
    <p:sldId id="550" r:id="rId18"/>
    <p:sldId id="562" r:id="rId19"/>
    <p:sldId id="563" r:id="rId20"/>
    <p:sldId id="564" r:id="rId21"/>
    <p:sldId id="565" r:id="rId22"/>
    <p:sldId id="566" r:id="rId23"/>
    <p:sldId id="567" r:id="rId24"/>
    <p:sldId id="568" r:id="rId25"/>
    <p:sldId id="569" r:id="rId26"/>
    <p:sldId id="570" r:id="rId27"/>
    <p:sldId id="571" r:id="rId28"/>
    <p:sldId id="574" r:id="rId29"/>
    <p:sldId id="572" r:id="rId30"/>
    <p:sldId id="573" r:id="rId31"/>
    <p:sldId id="534" r:id="rId32"/>
    <p:sldId id="575" r:id="rId33"/>
    <p:sldId id="576" r:id="rId34"/>
    <p:sldId id="577" r:id="rId35"/>
    <p:sldId id="578" r:id="rId36"/>
    <p:sldId id="539" r:id="rId37"/>
    <p:sldId id="54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23F1"/>
    <a:srgbClr val="8822EE"/>
    <a:srgbClr val="F01688"/>
    <a:srgbClr val="2F21F3"/>
    <a:srgbClr val="FEB52B"/>
    <a:srgbClr val="F01689"/>
    <a:srgbClr val="6F22E3"/>
    <a:srgbClr val="E218A3"/>
    <a:srgbClr val="BA20DB"/>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22"/>
  </p:normalViewPr>
  <p:slideViewPr>
    <p:cSldViewPr snapToGrid="0">
      <p:cViewPr varScale="1">
        <p:scale>
          <a:sx n="74" d="100"/>
          <a:sy n="74" d="100"/>
        </p:scale>
        <p:origin x="96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8/31/2026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b="0" i="0" dirty="0">
                <a:solidFill>
                  <a:srgbClr val="F9FAFB"/>
                </a:solidFill>
                <a:effectLst/>
                <a:latin typeface="quote-cjk-patch"/>
              </a:rPr>
              <a:t>Bank Database Analysis &amp; Power BI Dashboard</a:t>
            </a:r>
            <a:endParaRPr lang="en-US" dirty="0"/>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p:txBody>
          <a:bodyPr/>
          <a:lstStyle/>
          <a:p>
            <a:r>
              <a:rPr lang="en-US" dirty="0"/>
              <a:t>Prepared by Aya Mohab</a:t>
            </a:r>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a:xfrm>
            <a:off x="1536192" y="218210"/>
            <a:ext cx="8878824" cy="748146"/>
          </a:xfrm>
        </p:spPr>
        <p:txBody>
          <a:bodyPr>
            <a:normAutofit/>
          </a:bodyPr>
          <a:lstStyle/>
          <a:p>
            <a:pPr algn="ctr"/>
            <a:r>
              <a:rPr lang="en-US" dirty="0">
                <a:ln w="28575">
                  <a:noFill/>
                  <a:prstDash val="solid"/>
                </a:ln>
                <a:latin typeface="Tw Cen MT" panose="020B0602020104020603" pitchFamily="34" charset="77"/>
              </a:rPr>
              <a:t>DataSet overview</a:t>
            </a:r>
            <a:endParaRPr lang="en-US" dirty="0"/>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a:xfrm>
            <a:off x="850392" y="966356"/>
            <a:ext cx="9706772" cy="5891645"/>
          </a:xfrm>
        </p:spPr>
        <p:txBody>
          <a:bodyPr/>
          <a:lstStyle/>
          <a:p>
            <a:pPr marL="0" indent="0" algn="l">
              <a:lnSpc>
                <a:spcPct val="150000"/>
              </a:lnSpc>
              <a:buClr>
                <a:schemeClr val="accent6"/>
              </a:buClr>
              <a:buNone/>
            </a:pPr>
            <a:r>
              <a:rPr lang="en-US" dirty="0">
                <a:solidFill>
                  <a:schemeClr val="bg1"/>
                </a:solidFill>
                <a:latin typeface="Segoe UI Light" panose="020B0502040204020203" pitchFamily="34" charset="0"/>
                <a:cs typeface="Segoe UI Light" panose="020B0502040204020203" pitchFamily="34" charset="0"/>
              </a:rPr>
              <a:t>    </a:t>
            </a:r>
            <a:r>
              <a:rPr lang="en-US" sz="2800" b="1" dirty="0">
                <a:solidFill>
                  <a:schemeClr val="bg1"/>
                </a:solidFill>
                <a:latin typeface="Segoe UI Light" panose="020B0502040204020203" pitchFamily="34" charset="0"/>
                <a:cs typeface="Segoe UI Light" panose="020B0502040204020203" pitchFamily="34" charset="0"/>
              </a:rPr>
              <a:t>This database contains :</a:t>
            </a:r>
          </a:p>
          <a:p>
            <a:pPr marL="342900" indent="-342900" algn="l">
              <a:lnSpc>
                <a:spcPct val="150000"/>
              </a:lnSpc>
              <a:buClr>
                <a:schemeClr val="accent6"/>
              </a:buClr>
              <a:buFont typeface="Courier New" panose="02070309020205020404" pitchFamily="49" charset="0"/>
              <a:buChar char="o"/>
            </a:pPr>
            <a:r>
              <a:rPr lang="en-US" b="1" dirty="0">
                <a:latin typeface="Segoe UI Light" panose="020B0502040204020203" pitchFamily="34" charset="0"/>
                <a:cs typeface="Segoe UI Light" panose="020B0502040204020203" pitchFamily="34" charset="0"/>
              </a:rPr>
              <a:t>11</a:t>
            </a:r>
            <a:r>
              <a:rPr lang="en-US" dirty="0">
                <a:latin typeface="Segoe UI Light" panose="020B0502040204020203" pitchFamily="34" charset="0"/>
                <a:cs typeface="Segoe UI Light" panose="020B0502040204020203" pitchFamily="34" charset="0"/>
              </a:rPr>
              <a:t> Main tables covering </a:t>
            </a:r>
            <a:r>
              <a:rPr lang="en-US" b="1" dirty="0">
                <a:latin typeface="Segoe UI Light" panose="020B0502040204020203" pitchFamily="34" charset="0"/>
                <a:cs typeface="Segoe UI Light" panose="020B0502040204020203" pitchFamily="34" charset="0"/>
              </a:rPr>
              <a:t>Account, ATM, Branch, Card, Customer, Customer Phones, Department, Employee, Loan, Transactions, Transactions_ATM_Account</a:t>
            </a:r>
            <a:endParaRPr lang="en-US" b="1"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b="1" dirty="0">
                <a:latin typeface="Segoe UI Light" panose="020B0502040204020203" pitchFamily="34" charset="0"/>
                <a:cs typeface="Segoe UI Light" panose="020B0502040204020203" pitchFamily="34" charset="0"/>
              </a:rPr>
              <a:t>1</a:t>
            </a:r>
            <a:r>
              <a:rPr lang="en-US" dirty="0">
                <a:latin typeface="Segoe UI Light" panose="020B0502040204020203" pitchFamily="34" charset="0"/>
                <a:cs typeface="Segoe UI Light" panose="020B0502040204020203" pitchFamily="34" charset="0"/>
              </a:rPr>
              <a:t> Calculated Table [</a:t>
            </a:r>
            <a:r>
              <a:rPr lang="en-US" b="1" dirty="0">
                <a:latin typeface="Segoe UI Light" panose="020B0502040204020203" pitchFamily="34" charset="0"/>
                <a:cs typeface="Segoe UI Light" panose="020B0502040204020203" pitchFamily="34" charset="0"/>
              </a:rPr>
              <a:t>DateTable] to enable time-based filtering             and make a Date Slicer</a:t>
            </a:r>
            <a:endParaRPr lang="en-US" b="1"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b="1" dirty="0">
                <a:latin typeface="Segoe UI Light" panose="020B0502040204020203" pitchFamily="34" charset="0"/>
                <a:cs typeface="Segoe UI Light" panose="020B0502040204020203" pitchFamily="34" charset="0"/>
              </a:rPr>
              <a:t>7</a:t>
            </a:r>
            <a:r>
              <a:rPr lang="en-US" dirty="0">
                <a:latin typeface="Segoe UI Light" panose="020B0502040204020203" pitchFamily="34" charset="0"/>
                <a:cs typeface="Segoe UI Light" panose="020B0502040204020203" pitchFamily="34" charset="0"/>
              </a:rPr>
              <a:t> Calculated Columns </a:t>
            </a:r>
            <a:r>
              <a:rPr lang="en-US" b="1" dirty="0">
                <a:latin typeface="Segoe UI Light" panose="020B0502040204020203" pitchFamily="34" charset="0"/>
                <a:cs typeface="Segoe UI Light" panose="020B0502040204020203" pitchFamily="34" charset="0"/>
              </a:rPr>
              <a:t>Age Group, Customer Full Name, Month Start, Employee Full Name, Loan Status, Risk Rate, Term Label</a:t>
            </a:r>
            <a:endParaRPr lang="en-US" b="1"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b="1" dirty="0">
                <a:latin typeface="Segoe UI Light" panose="020B0502040204020203" pitchFamily="34" charset="0"/>
                <a:cs typeface="Segoe UI Light" panose="020B0502040204020203" pitchFamily="34" charset="0"/>
              </a:rPr>
              <a:t>20</a:t>
            </a:r>
            <a:r>
              <a:rPr lang="en-US" dirty="0">
                <a:latin typeface="Segoe UI Light" panose="020B0502040204020203" pitchFamily="34" charset="0"/>
                <a:cs typeface="Segoe UI Light" panose="020B0502040204020203" pitchFamily="34" charset="0"/>
              </a:rPr>
              <a:t> Measures </a:t>
            </a:r>
            <a:r>
              <a:rPr lang="en-US" b="1" dirty="0">
                <a:latin typeface="Segoe UI Light" panose="020B0502040204020203" pitchFamily="34" charset="0"/>
                <a:cs typeface="Segoe UI Light" panose="020B0502040204020203" pitchFamily="34" charset="0"/>
              </a:rPr>
              <a:t>Active Accounts, Average Salary, Total High Risk Loans</a:t>
            </a:r>
            <a:r>
              <a:rPr lang="en-US" dirty="0">
                <a:latin typeface="Segoe UI Light" panose="020B0502040204020203" pitchFamily="34" charset="0"/>
                <a:cs typeface="Segoe UI Light" panose="020B0502040204020203" pitchFamily="34" charset="0"/>
              </a:rPr>
              <a:t>, etc</a:t>
            </a:r>
            <a:endParaRPr lang="en-US"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CA971B-8D3A-6CB2-E84F-946881FEF753}"/>
              </a:ext>
            </a:extLst>
          </p:cNvPr>
          <p:cNvSpPr>
            <a:spLocks noGrp="1"/>
          </p:cNvSpPr>
          <p:nvPr>
            <p:ph type="sldNum" sz="quarter" idx="11"/>
          </p:nvPr>
        </p:nvSpPr>
        <p:spPr/>
        <p:txBody>
          <a:bodyPr/>
          <a:lstStyle/>
          <a:p>
            <a:fld id="{294A09A9-5501-47C1-A89A-A340965A2BE2}" type="slidenum">
              <a:rPr lang="en-US" smtClean="0"/>
              <a:pPr/>
              <a:t>3</a:t>
            </a:fld>
            <a:endParaRPr lang="en-US" dirty="0"/>
          </a:p>
        </p:txBody>
      </p:sp>
      <p:sp>
        <p:nvSpPr>
          <p:cNvPr id="6" name="TextBox 5">
            <a:extLst>
              <a:ext uri="{FF2B5EF4-FFF2-40B4-BE49-F238E27FC236}">
                <a16:creationId xmlns:a16="http://schemas.microsoft.com/office/drawing/2014/main" id="{4E301910-8E34-D5F9-96D0-CDCBE6902D00}"/>
              </a:ext>
            </a:extLst>
          </p:cNvPr>
          <p:cNvSpPr txBox="1"/>
          <p:nvPr/>
        </p:nvSpPr>
        <p:spPr>
          <a:xfrm>
            <a:off x="1114425" y="368433"/>
            <a:ext cx="6896966" cy="707886"/>
          </a:xfrm>
          <a:prstGeom prst="rect">
            <a:avLst/>
          </a:prstGeom>
          <a:noFill/>
        </p:spPr>
        <p:txBody>
          <a:bodyPr wrap="square">
            <a:spAutoFit/>
          </a:bodyPr>
          <a:lstStyle/>
          <a:p>
            <a:r>
              <a:rPr kumimoji="0" lang="en-US" sz="4000" b="1" i="0" u="none" strike="noStrike" kern="1200" cap="all" spc="600" normalizeH="0" baseline="0" noProof="0" dirty="0">
                <a:ln w="28575">
                  <a:noFill/>
                  <a:prstDash val="solid"/>
                </a:ln>
                <a:solidFill>
                  <a:srgbClr val="FFFFFF"/>
                </a:solidFill>
                <a:effectLst/>
                <a:uLnTx/>
                <a:uFillTx/>
                <a:latin typeface="Tw Cen MT" panose="020B0602020104020603" pitchFamily="34" charset="77"/>
                <a:ea typeface="+mj-ea"/>
                <a:cs typeface="+mj-cs"/>
              </a:rPr>
              <a:t>SQL Techniques Used</a:t>
            </a:r>
            <a:endParaRPr lang="en-US" dirty="0"/>
          </a:p>
        </p:txBody>
      </p:sp>
      <p:sp>
        <p:nvSpPr>
          <p:cNvPr id="3" name="Content Placeholder 2">
            <a:extLst>
              <a:ext uri="{FF2B5EF4-FFF2-40B4-BE49-F238E27FC236}">
                <a16:creationId xmlns:a16="http://schemas.microsoft.com/office/drawing/2014/main" id="{F551050F-C4B5-AA70-C679-E865B58692C9}"/>
              </a:ext>
            </a:extLst>
          </p:cNvPr>
          <p:cNvSpPr>
            <a:spLocks noGrp="1"/>
          </p:cNvSpPr>
          <p:nvPr>
            <p:ph idx="1"/>
          </p:nvPr>
        </p:nvSpPr>
        <p:spPr>
          <a:xfrm>
            <a:off x="850392" y="1076319"/>
            <a:ext cx="9706772" cy="5781681"/>
          </a:xfrm>
        </p:spPr>
        <p:txBody>
          <a:bodyPr/>
          <a:lstStyle/>
          <a:p>
            <a:pPr marL="0" indent="0" algn="l">
              <a:lnSpc>
                <a:spcPct val="150000"/>
              </a:lnSpc>
              <a:buClr>
                <a:schemeClr val="accent6"/>
              </a:buClr>
              <a:buNone/>
            </a:pPr>
            <a:endParaRPr lang="en-US" sz="800" b="1"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b="1" dirty="0">
                <a:solidFill>
                  <a:schemeClr val="bg1"/>
                </a:solidFill>
                <a:latin typeface="+mj-lt"/>
                <a:cs typeface="Segoe UI Light" panose="020B0502040204020203" pitchFamily="34" charset="0"/>
              </a:rPr>
              <a:t>Aggregations</a:t>
            </a:r>
            <a:r>
              <a:rPr lang="en-US" b="1" dirty="0">
                <a:solidFill>
                  <a:schemeClr val="bg1"/>
                </a:solidFill>
                <a:latin typeface="Segoe UI Light" panose="020B0502040204020203" pitchFamily="34" charset="0"/>
                <a:cs typeface="Segoe UI Light" panose="020B0502040204020203" pitchFamily="34" charset="0"/>
              </a:rPr>
              <a:t> : (Q1), (Q3), (Q4), (Q5), (Q6), (Q7), (Q8), (Q12), (Q14)</a:t>
            </a:r>
          </a:p>
          <a:p>
            <a:pPr marL="342900" indent="-342900" algn="l">
              <a:lnSpc>
                <a:spcPct val="150000"/>
              </a:lnSpc>
              <a:buClr>
                <a:schemeClr val="accent6"/>
              </a:buClr>
              <a:buFont typeface="Courier New" panose="02070309020205020404" pitchFamily="49" charset="0"/>
              <a:buChar char="o"/>
            </a:pPr>
            <a:r>
              <a:rPr lang="en-US" b="1" dirty="0">
                <a:latin typeface="+mj-lt"/>
                <a:cs typeface="Segoe UI Light" panose="020B0502040204020203" pitchFamily="34" charset="0"/>
              </a:rPr>
              <a:t>Joins : </a:t>
            </a:r>
            <a:r>
              <a:rPr lang="en-US" b="1" dirty="0">
                <a:solidFill>
                  <a:schemeClr val="accent6"/>
                </a:solidFill>
                <a:latin typeface="Segoe UI Light" panose="020B0502040204020203" pitchFamily="34" charset="0"/>
                <a:cs typeface="Segoe UI Light" panose="020B0502040204020203" pitchFamily="34" charset="0"/>
              </a:rPr>
              <a:t>Left Join </a:t>
            </a:r>
            <a:r>
              <a:rPr lang="en-US" b="1" dirty="0">
                <a:latin typeface="Segoe UI Light" panose="020B0502040204020203" pitchFamily="34" charset="0"/>
                <a:cs typeface="Segoe UI Light" panose="020B0502040204020203" pitchFamily="34" charset="0"/>
              </a:rPr>
              <a:t>(Q2), </a:t>
            </a:r>
            <a:r>
              <a:rPr lang="en-US" b="1" dirty="0">
                <a:solidFill>
                  <a:schemeClr val="accent6"/>
                </a:solidFill>
                <a:latin typeface="Segoe UI Light" panose="020B0502040204020203" pitchFamily="34" charset="0"/>
                <a:cs typeface="Segoe UI Light" panose="020B0502040204020203" pitchFamily="34" charset="0"/>
              </a:rPr>
              <a:t>Inner Join </a:t>
            </a:r>
            <a:r>
              <a:rPr lang="en-US" b="1" dirty="0">
                <a:latin typeface="Segoe UI Light" panose="020B0502040204020203" pitchFamily="34" charset="0"/>
                <a:cs typeface="Segoe UI Light" panose="020B0502040204020203" pitchFamily="34" charset="0"/>
              </a:rPr>
              <a:t>(Q4)(Q5)(Q7)(Q8)(Q9)(Q11)(Q13),    </a:t>
            </a:r>
            <a:r>
              <a:rPr lang="en-US" b="1" dirty="0">
                <a:solidFill>
                  <a:schemeClr val="accent6"/>
                </a:solidFill>
                <a:latin typeface="Segoe UI Light" panose="020B0502040204020203" pitchFamily="34" charset="0"/>
                <a:cs typeface="Segoe UI Light" panose="020B0502040204020203" pitchFamily="34" charset="0"/>
              </a:rPr>
              <a:t>Cross Join </a:t>
            </a:r>
            <a:r>
              <a:rPr lang="en-US" b="1" dirty="0">
                <a:latin typeface="Segoe UI Light" panose="020B0502040204020203" pitchFamily="34" charset="0"/>
                <a:cs typeface="Segoe UI Light" panose="020B0502040204020203" pitchFamily="34" charset="0"/>
              </a:rPr>
              <a:t>(Q6), </a:t>
            </a:r>
            <a:r>
              <a:rPr lang="en-US" b="1" dirty="0">
                <a:solidFill>
                  <a:schemeClr val="accent6"/>
                </a:solidFill>
                <a:latin typeface="Segoe UI Light" panose="020B0502040204020203" pitchFamily="34" charset="0"/>
                <a:cs typeface="Segoe UI Light" panose="020B0502040204020203" pitchFamily="34" charset="0"/>
              </a:rPr>
              <a:t>Self Join </a:t>
            </a:r>
            <a:r>
              <a:rPr lang="en-US" b="1" dirty="0">
                <a:latin typeface="Segoe UI Light" panose="020B0502040204020203" pitchFamily="34" charset="0"/>
                <a:cs typeface="Segoe UI Light" panose="020B0502040204020203" pitchFamily="34" charset="0"/>
              </a:rPr>
              <a:t>(Q13), </a:t>
            </a:r>
            <a:r>
              <a:rPr lang="en-US" b="1" dirty="0">
                <a:solidFill>
                  <a:schemeClr val="accent6"/>
                </a:solidFill>
                <a:latin typeface="Segoe UI Light" panose="020B0502040204020203" pitchFamily="34" charset="0"/>
                <a:cs typeface="Segoe UI Light" panose="020B0502040204020203" pitchFamily="34" charset="0"/>
              </a:rPr>
              <a:t>Multiple Joins </a:t>
            </a:r>
            <a:r>
              <a:rPr lang="en-US" b="1" dirty="0">
                <a:latin typeface="Segoe UI Light" panose="020B0502040204020203" pitchFamily="34" charset="0"/>
                <a:cs typeface="Segoe UI Light" panose="020B0502040204020203" pitchFamily="34" charset="0"/>
              </a:rPr>
              <a:t>(Q14)</a:t>
            </a:r>
          </a:p>
          <a:p>
            <a:pPr marL="342900" indent="-342900" algn="l">
              <a:lnSpc>
                <a:spcPct val="150000"/>
              </a:lnSpc>
              <a:buClr>
                <a:schemeClr val="accent6"/>
              </a:buClr>
              <a:buFont typeface="Courier New" panose="02070309020205020404" pitchFamily="49" charset="0"/>
              <a:buChar char="o"/>
            </a:pPr>
            <a:r>
              <a:rPr lang="en-US" b="1" dirty="0">
                <a:solidFill>
                  <a:schemeClr val="bg1"/>
                </a:solidFill>
                <a:latin typeface="+mj-lt"/>
                <a:cs typeface="Segoe UI Light" panose="020B0502040204020203" pitchFamily="34" charset="0"/>
              </a:rPr>
              <a:t>CTEs : </a:t>
            </a:r>
            <a:r>
              <a:rPr lang="en-US" b="1" dirty="0">
                <a:solidFill>
                  <a:schemeClr val="bg1"/>
                </a:solidFill>
                <a:latin typeface="Segoe UI Light" panose="020B0502040204020203" pitchFamily="34" charset="0"/>
                <a:cs typeface="Segoe UI Light" panose="020B0502040204020203" pitchFamily="34" charset="0"/>
              </a:rPr>
              <a:t>(Q6), (Q8), (</a:t>
            </a:r>
            <a:r>
              <a:rPr lang="en-US" b="1" dirty="0">
                <a:latin typeface="Segoe UI Light" panose="020B0502040204020203" pitchFamily="34" charset="0"/>
                <a:cs typeface="Segoe UI Light" panose="020B0502040204020203" pitchFamily="34" charset="0"/>
              </a:rPr>
              <a:t>Q9), (Q10), (Q11), (Q12), (Q13)</a:t>
            </a:r>
          </a:p>
          <a:p>
            <a:pPr marL="342900" indent="-342900" algn="l">
              <a:lnSpc>
                <a:spcPct val="150000"/>
              </a:lnSpc>
              <a:buClr>
                <a:schemeClr val="accent6"/>
              </a:buClr>
              <a:buFont typeface="Courier New" panose="02070309020205020404" pitchFamily="49" charset="0"/>
              <a:buChar char="o"/>
            </a:pPr>
            <a:r>
              <a:rPr lang="en-US" b="1" dirty="0">
                <a:solidFill>
                  <a:schemeClr val="bg1"/>
                </a:solidFill>
                <a:latin typeface="+mj-lt"/>
                <a:cs typeface="Segoe UI Light" panose="020B0502040204020203" pitchFamily="34" charset="0"/>
              </a:rPr>
              <a:t>Window Functions : </a:t>
            </a:r>
            <a:r>
              <a:rPr lang="en-US" b="1" dirty="0">
                <a:solidFill>
                  <a:schemeClr val="accent6"/>
                </a:solidFill>
                <a:latin typeface="Segoe UI Light" panose="020B0502040204020203" pitchFamily="34" charset="0"/>
                <a:cs typeface="Segoe UI Light" panose="020B0502040204020203" pitchFamily="34" charset="0"/>
              </a:rPr>
              <a:t>ROW_NUMBER() </a:t>
            </a:r>
            <a:r>
              <a:rPr lang="en-US" b="1" dirty="0">
                <a:solidFill>
                  <a:schemeClr val="bg1"/>
                </a:solidFill>
                <a:latin typeface="Segoe UI Light" panose="020B0502040204020203" pitchFamily="34" charset="0"/>
                <a:cs typeface="Segoe UI Light" panose="020B0502040204020203" pitchFamily="34" charset="0"/>
              </a:rPr>
              <a:t>(Q9)(Q13), </a:t>
            </a:r>
            <a:r>
              <a:rPr lang="en-US" b="1" dirty="0">
                <a:solidFill>
                  <a:schemeClr val="accent6"/>
                </a:solidFill>
                <a:latin typeface="Segoe UI Light" panose="020B0502040204020203" pitchFamily="34" charset="0"/>
                <a:cs typeface="Segoe UI Light" panose="020B0502040204020203" pitchFamily="34" charset="0"/>
              </a:rPr>
              <a:t>RANK() </a:t>
            </a:r>
            <a:r>
              <a:rPr lang="en-US" b="1" dirty="0">
                <a:solidFill>
                  <a:schemeClr val="bg1"/>
                </a:solidFill>
                <a:latin typeface="Segoe UI Light" panose="020B0502040204020203" pitchFamily="34" charset="0"/>
                <a:cs typeface="Segoe UI Light" panose="020B0502040204020203" pitchFamily="34" charset="0"/>
              </a:rPr>
              <a:t>(Q4),              </a:t>
            </a:r>
            <a:r>
              <a:rPr lang="en-US" b="1" dirty="0">
                <a:solidFill>
                  <a:schemeClr val="accent6"/>
                </a:solidFill>
                <a:latin typeface="Segoe UI Light" panose="020B0502040204020203" pitchFamily="34" charset="0"/>
                <a:cs typeface="Segoe UI Light" panose="020B0502040204020203" pitchFamily="34" charset="0"/>
              </a:rPr>
              <a:t>LAG() </a:t>
            </a:r>
            <a:r>
              <a:rPr lang="en-US" b="1" dirty="0">
                <a:solidFill>
                  <a:schemeClr val="bg1"/>
                </a:solidFill>
                <a:latin typeface="Segoe UI Light" panose="020B0502040204020203" pitchFamily="34" charset="0"/>
                <a:cs typeface="Segoe UI Light" panose="020B0502040204020203" pitchFamily="34" charset="0"/>
              </a:rPr>
              <a:t>(Q10)(Q11),</a:t>
            </a:r>
            <a:r>
              <a:rPr lang="en-US" b="1" dirty="0">
                <a:latin typeface="Segoe UI Light" panose="020B0502040204020203" pitchFamily="34" charset="0"/>
                <a:cs typeface="Segoe UI Light" panose="020B0502040204020203" pitchFamily="34" charset="0"/>
              </a:rPr>
              <a:t> </a:t>
            </a:r>
            <a:r>
              <a:rPr lang="en-US" b="1" dirty="0">
                <a:solidFill>
                  <a:schemeClr val="accent6"/>
                </a:solidFill>
                <a:latin typeface="Segoe UI Light" panose="020B0502040204020203" pitchFamily="34" charset="0"/>
                <a:cs typeface="Segoe UI Light" panose="020B0502040204020203" pitchFamily="34" charset="0"/>
              </a:rPr>
              <a:t>LEAD() </a:t>
            </a:r>
            <a:r>
              <a:rPr lang="en-US" b="1" dirty="0">
                <a:latin typeface="Segoe UI Light" panose="020B0502040204020203" pitchFamily="34" charset="0"/>
                <a:cs typeface="Segoe UI Light" panose="020B0502040204020203" pitchFamily="34" charset="0"/>
              </a:rPr>
              <a:t>(Q11), </a:t>
            </a:r>
            <a:r>
              <a:rPr lang="en-US" b="1" dirty="0">
                <a:solidFill>
                  <a:schemeClr val="accent6"/>
                </a:solidFill>
                <a:latin typeface="Segoe UI Light" panose="020B0502040204020203" pitchFamily="34" charset="0"/>
                <a:cs typeface="Segoe UI Light" panose="020B0502040204020203" pitchFamily="34" charset="0"/>
              </a:rPr>
              <a:t>NTILE() </a:t>
            </a:r>
            <a:r>
              <a:rPr lang="en-US" b="1" dirty="0">
                <a:latin typeface="Segoe UI Light" panose="020B0502040204020203" pitchFamily="34" charset="0"/>
                <a:cs typeface="Segoe UI Light" panose="020B0502040204020203" pitchFamily="34" charset="0"/>
              </a:rPr>
              <a:t>(Q12)</a:t>
            </a:r>
          </a:p>
          <a:p>
            <a:pPr marL="342900" indent="-342900" algn="l">
              <a:lnSpc>
                <a:spcPct val="150000"/>
              </a:lnSpc>
              <a:buClr>
                <a:schemeClr val="accent6"/>
              </a:buClr>
              <a:buFont typeface="Courier New" panose="02070309020205020404" pitchFamily="49" charset="0"/>
              <a:buChar char="o"/>
            </a:pPr>
            <a:r>
              <a:rPr lang="en-US" b="1" dirty="0">
                <a:solidFill>
                  <a:schemeClr val="bg1"/>
                </a:solidFill>
                <a:latin typeface="+mj-lt"/>
                <a:cs typeface="Segoe UI Light" panose="020B0502040204020203" pitchFamily="34" charset="0"/>
              </a:rPr>
              <a:t>Filtering :</a:t>
            </a:r>
            <a:r>
              <a:rPr lang="en-US" b="1" dirty="0">
                <a:solidFill>
                  <a:schemeClr val="accent6"/>
                </a:solidFill>
                <a:latin typeface="+mj-lt"/>
                <a:cs typeface="Segoe UI Light" panose="020B0502040204020203" pitchFamily="34" charset="0"/>
              </a:rPr>
              <a:t> </a:t>
            </a:r>
            <a:r>
              <a:rPr lang="en-US" b="1" dirty="0">
                <a:solidFill>
                  <a:schemeClr val="accent6"/>
                </a:solidFill>
                <a:latin typeface="Segoe UI Light" panose="020B0502040204020203" pitchFamily="34" charset="0"/>
                <a:cs typeface="Segoe UI Light" panose="020B0502040204020203" pitchFamily="34" charset="0"/>
              </a:rPr>
              <a:t>Having </a:t>
            </a:r>
            <a:r>
              <a:rPr lang="en-US" b="1" dirty="0">
                <a:solidFill>
                  <a:schemeClr val="bg1"/>
                </a:solidFill>
                <a:latin typeface="Segoe UI Light" panose="020B0502040204020203" pitchFamily="34" charset="0"/>
                <a:cs typeface="Segoe UI Light" panose="020B0502040204020203" pitchFamily="34" charset="0"/>
              </a:rPr>
              <a:t>(Q1), Time-based using </a:t>
            </a:r>
            <a:r>
              <a:rPr lang="en-US" b="1" dirty="0">
                <a:solidFill>
                  <a:schemeClr val="accent6"/>
                </a:solidFill>
                <a:latin typeface="Segoe UI Light" panose="020B0502040204020203" pitchFamily="34" charset="0"/>
                <a:cs typeface="Segoe UI Light" panose="020B0502040204020203" pitchFamily="34" charset="0"/>
              </a:rPr>
              <a:t>DATEADD() </a:t>
            </a:r>
            <a:r>
              <a:rPr lang="en-US" b="1" dirty="0">
                <a:solidFill>
                  <a:schemeClr val="bg1"/>
                </a:solidFill>
                <a:latin typeface="Segoe UI Light" panose="020B0502040204020203" pitchFamily="34" charset="0"/>
                <a:cs typeface="Segoe UI Light" panose="020B0502040204020203" pitchFamily="34" charset="0"/>
              </a:rPr>
              <a:t>(Q5)(Q7)</a:t>
            </a:r>
          </a:p>
        </p:txBody>
      </p:sp>
    </p:spTree>
    <p:extLst>
      <p:ext uri="{BB962C8B-B14F-4D97-AF65-F5344CB8AC3E}">
        <p14:creationId xmlns:p14="http://schemas.microsoft.com/office/powerpoint/2010/main" val="80368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bank overview&#10;&#10;AI-generated content may be incorrect.">
            <a:extLst>
              <a:ext uri="{FF2B5EF4-FFF2-40B4-BE49-F238E27FC236}">
                <a16:creationId xmlns:a16="http://schemas.microsoft.com/office/drawing/2014/main" id="{D0A999BB-8649-B77B-810A-FE13C261C58B}"/>
              </a:ext>
            </a:extLst>
          </p:cNvPr>
          <p:cNvPicPr>
            <a:picLocks noChangeAspect="1"/>
          </p:cNvPicPr>
          <p:nvPr/>
        </p:nvPicPr>
        <p:blipFill>
          <a:blip r:embed="rId2"/>
          <a:srcRect b="1747"/>
          <a:stretch>
            <a:fillRect/>
          </a:stretch>
        </p:blipFill>
        <p:spPr>
          <a:xfrm>
            <a:off x="20" y="10"/>
            <a:ext cx="12191980" cy="6857990"/>
          </a:xfrm>
          <a:prstGeom prst="rect">
            <a:avLst/>
          </a:prstGeom>
          <a:noFill/>
        </p:spPr>
      </p:pic>
      <p:sp>
        <p:nvSpPr>
          <p:cNvPr id="6" name="Slide Number Placeholder 5" hidden="1">
            <a:extLst>
              <a:ext uri="{FF2B5EF4-FFF2-40B4-BE49-F238E27FC236}">
                <a16:creationId xmlns:a16="http://schemas.microsoft.com/office/drawing/2014/main" id="{AA6BF7A4-B2C1-7FFB-0DCA-69EAEB5E395B}"/>
              </a:ext>
            </a:extLst>
          </p:cNvPr>
          <p:cNvSpPr>
            <a:spLocks noGrp="1"/>
          </p:cNvSpPr>
          <p:nvPr>
            <p:ph type="sldNum" sz="quarter" idx="4294967295"/>
          </p:nvPr>
        </p:nvSpPr>
        <p:spPr>
          <a:xfrm>
            <a:off x="329184" y="411480"/>
            <a:ext cx="521208" cy="310896"/>
          </a:xfrm>
        </p:spPr>
        <p:txBody>
          <a:bodyPr/>
          <a:lstStyle/>
          <a:p>
            <a:pPr>
              <a:spcAft>
                <a:spcPts val="600"/>
              </a:spcAft>
            </a:pPr>
            <a:fld id="{294A09A9-5501-47C1-A89A-A340965A2BE2}" type="slidenum">
              <a:rPr lang="en-US" smtClean="0"/>
              <a:pPr>
                <a:spcAft>
                  <a:spcPts val="600"/>
                </a:spcAft>
              </a:pPr>
              <a:t>4</a:t>
            </a:fld>
            <a:endParaRPr lang="en-US"/>
          </a:p>
        </p:txBody>
      </p:sp>
    </p:spTree>
    <p:extLst>
      <p:ext uri="{BB962C8B-B14F-4D97-AF65-F5344CB8AC3E}">
        <p14:creationId xmlns:p14="http://schemas.microsoft.com/office/powerpoint/2010/main" val="333607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98DA1B-79F7-C5ED-67DB-E2993104D50A}"/>
              </a:ext>
            </a:extLst>
          </p:cNvPr>
          <p:cNvSpPr>
            <a:spLocks noGrp="1"/>
          </p:cNvSpPr>
          <p:nvPr>
            <p:ph type="sldNum" sz="quarter" idx="11"/>
          </p:nvPr>
        </p:nvSpPr>
        <p:spPr/>
        <p:txBody>
          <a:bodyPr/>
          <a:lstStyle/>
          <a:p>
            <a:fld id="{294A09A9-5501-47C1-A89A-A340965A2BE2}" type="slidenum">
              <a:rPr lang="en-US" smtClean="0"/>
              <a:pPr/>
              <a:t>5</a:t>
            </a:fld>
            <a:endParaRPr lang="en-US" dirty="0"/>
          </a:p>
        </p:txBody>
      </p:sp>
      <p:sp>
        <p:nvSpPr>
          <p:cNvPr id="6" name="Content Placeholder 2">
            <a:extLst>
              <a:ext uri="{FF2B5EF4-FFF2-40B4-BE49-F238E27FC236}">
                <a16:creationId xmlns:a16="http://schemas.microsoft.com/office/drawing/2014/main" id="{A31D566E-E5E7-3AF1-03E0-42D17E33F30A}"/>
              </a:ext>
            </a:extLst>
          </p:cNvPr>
          <p:cNvSpPr txBox="1">
            <a:spLocks/>
          </p:cNvSpPr>
          <p:nvPr/>
        </p:nvSpPr>
        <p:spPr>
          <a:xfrm>
            <a:off x="850392" y="1839150"/>
            <a:ext cx="8283217" cy="4270705"/>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marL="228600" indent="-347472" algn="l">
              <a:lnSpc>
                <a:spcPct val="90000"/>
              </a:lnSpc>
              <a:buFont typeface="Courier New" panose="02070309020205020404" pitchFamily="49" charset="0"/>
              <a:buChar char="o"/>
            </a:pPr>
            <a:r>
              <a:rPr lang="en-US" sz="2200" b="1" dirty="0"/>
              <a:t>The bank processed </a:t>
            </a:r>
            <a:r>
              <a:rPr lang="en-US" sz="2200" b="1" dirty="0">
                <a:solidFill>
                  <a:schemeClr val="accent6"/>
                </a:solidFill>
              </a:rPr>
              <a:t>$39.99M </a:t>
            </a:r>
            <a:r>
              <a:rPr lang="en-US" sz="2200" b="1" dirty="0"/>
              <a:t>in transactions across </a:t>
            </a:r>
            <a:r>
              <a:rPr lang="en-US" sz="2200" b="1" dirty="0">
                <a:solidFill>
                  <a:schemeClr val="accent6"/>
                </a:solidFill>
              </a:rPr>
              <a:t>20K</a:t>
            </a:r>
            <a:r>
              <a:rPr lang="en-US" sz="2200" b="1" dirty="0"/>
              <a:t> transactions, showing steady, stable growth over the year.</a:t>
            </a:r>
          </a:p>
          <a:p>
            <a:pPr marL="228600" indent="-347472" algn="l">
              <a:lnSpc>
                <a:spcPct val="90000"/>
              </a:lnSpc>
              <a:buFont typeface="Courier New" panose="02070309020205020404" pitchFamily="49" charset="0"/>
              <a:buChar char="o"/>
            </a:pPr>
            <a:r>
              <a:rPr lang="en-US" sz="2200" b="1" dirty="0"/>
              <a:t>Account balances are almost evenly distributed across all five states indicating a highly diversified customer base.</a:t>
            </a:r>
          </a:p>
          <a:p>
            <a:pPr marL="228600" indent="-347472" algn="l">
              <a:lnSpc>
                <a:spcPct val="90000"/>
              </a:lnSpc>
              <a:buFont typeface="Courier New" panose="02070309020205020404" pitchFamily="49" charset="0"/>
              <a:buChar char="o"/>
            </a:pPr>
            <a:r>
              <a:rPr lang="en-US" sz="2200" b="1" dirty="0"/>
              <a:t>Across all loan types the majority is categorized as </a:t>
            </a:r>
            <a:r>
              <a:rPr lang="en-US" sz="2200" b="1" dirty="0">
                <a:solidFill>
                  <a:schemeClr val="accent6"/>
                </a:solidFill>
              </a:rPr>
              <a:t>'Active' </a:t>
            </a:r>
            <a:r>
              <a:rPr lang="en-US" sz="2200" b="1" dirty="0"/>
              <a:t>rather than </a:t>
            </a:r>
            <a:r>
              <a:rPr lang="en-US" sz="2200" b="1" dirty="0">
                <a:solidFill>
                  <a:schemeClr val="accent6"/>
                </a:solidFill>
              </a:rPr>
              <a:t>'Closed' </a:t>
            </a:r>
            <a:r>
              <a:rPr lang="en-US" sz="2200" b="1" dirty="0"/>
              <a:t>indicating strong, consistent repayment behavior and low risk on current lending.</a:t>
            </a:r>
          </a:p>
        </p:txBody>
      </p:sp>
      <p:sp>
        <p:nvSpPr>
          <p:cNvPr id="7" name="TextBox 6">
            <a:extLst>
              <a:ext uri="{FF2B5EF4-FFF2-40B4-BE49-F238E27FC236}">
                <a16:creationId xmlns:a16="http://schemas.microsoft.com/office/drawing/2014/main" id="{32D0678C-7330-E704-E101-F43833C595FD}"/>
              </a:ext>
            </a:extLst>
          </p:cNvPr>
          <p:cNvSpPr txBox="1"/>
          <p:nvPr/>
        </p:nvSpPr>
        <p:spPr>
          <a:xfrm>
            <a:off x="850392" y="832104"/>
            <a:ext cx="10881360" cy="1069848"/>
          </a:xfrm>
          <a:prstGeom prst="rect">
            <a:avLst/>
          </a:prstGeom>
        </p:spPr>
        <p:txBody>
          <a:bodyPr vert="horz" lIns="91440" tIns="45720" rIns="91440" bIns="45720" rtlCol="0" anchor="ctr">
            <a:normAutofit/>
          </a:bodyPr>
          <a:lstStyle/>
          <a:p>
            <a:pPr>
              <a:lnSpc>
                <a:spcPct val="90000"/>
              </a:lnSpc>
              <a:spcBef>
                <a:spcPct val="0"/>
              </a:spcBef>
              <a:spcAft>
                <a:spcPts val="600"/>
              </a:spcAft>
            </a:pPr>
            <a:r>
              <a:rPr kumimoji="0" lang="en-US" sz="4000" b="1" i="0" u="none" strike="noStrike" kern="1200" cap="all" spc="600" normalizeH="0" baseline="0" noProof="0" dirty="0">
                <a:ln w="28575">
                  <a:noFill/>
                  <a:prstDash val="solid"/>
                </a:ln>
                <a:solidFill>
                  <a:schemeClr val="bg1"/>
                </a:solidFill>
                <a:effectLst/>
                <a:uLnTx/>
                <a:uFillTx/>
                <a:latin typeface="+mj-lt"/>
                <a:ea typeface="+mj-ea"/>
                <a:cs typeface="+mj-cs"/>
              </a:rPr>
              <a:t>key Insights: Overview</a:t>
            </a:r>
            <a:endParaRPr lang="en-US" sz="4000" b="1" kern="1200" cap="all" spc="600" baseline="0" dirty="0">
              <a:solidFill>
                <a:schemeClr val="bg1"/>
              </a:solidFill>
              <a:latin typeface="+mj-lt"/>
              <a:ea typeface="+mj-ea"/>
              <a:cs typeface="+mj-cs"/>
            </a:endParaRPr>
          </a:p>
        </p:txBody>
      </p:sp>
    </p:spTree>
    <p:extLst>
      <p:ext uri="{BB962C8B-B14F-4D97-AF65-F5344CB8AC3E}">
        <p14:creationId xmlns:p14="http://schemas.microsoft.com/office/powerpoint/2010/main" val="2355784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A5DA188E-EFC4-ADFC-A8CF-97454C29C706}"/>
              </a:ext>
            </a:extLst>
          </p:cNvPr>
          <p:cNvPicPr>
            <a:picLocks noChangeAspect="1"/>
          </p:cNvPicPr>
          <p:nvPr/>
        </p:nvPicPr>
        <p:blipFill>
          <a:blip r:embed="rId2"/>
          <a:srcRect b="1747"/>
          <a:stretch>
            <a:fillRect/>
          </a:stretch>
        </p:blipFill>
        <p:spPr>
          <a:xfrm>
            <a:off x="20" y="10"/>
            <a:ext cx="12191980" cy="6857990"/>
          </a:xfrm>
          <a:prstGeom prst="rect">
            <a:avLst/>
          </a:prstGeom>
          <a:noFill/>
        </p:spPr>
      </p:pic>
      <p:sp>
        <p:nvSpPr>
          <p:cNvPr id="15" name="Slide Number Placeholder 5" hidden="1">
            <a:extLst>
              <a:ext uri="{FF2B5EF4-FFF2-40B4-BE49-F238E27FC236}">
                <a16:creationId xmlns:a16="http://schemas.microsoft.com/office/drawing/2014/main" id="{8DC802E7-16AF-8D91-D669-40DCA9A48D0D}"/>
              </a:ext>
            </a:extLst>
          </p:cNvPr>
          <p:cNvSpPr>
            <a:spLocks noGrp="1"/>
          </p:cNvSpPr>
          <p:nvPr>
            <p:ph type="sldNum" sz="quarter" idx="4294967295"/>
          </p:nvPr>
        </p:nvSpPr>
        <p:spPr>
          <a:xfrm>
            <a:off x="329184" y="411480"/>
            <a:ext cx="521208" cy="310896"/>
          </a:xfrm>
        </p:spPr>
        <p:txBody>
          <a:bodyPr/>
          <a:lstStyle/>
          <a:p>
            <a:pPr>
              <a:spcAft>
                <a:spcPts val="600"/>
              </a:spcAft>
            </a:pPr>
            <a:fld id="{294A09A9-5501-47C1-A89A-A340965A2BE2}" type="slidenum">
              <a:rPr lang="en-US" smtClean="0"/>
              <a:pPr>
                <a:spcAft>
                  <a:spcPts val="600"/>
                </a:spcAft>
              </a:pPr>
              <a:t>6</a:t>
            </a:fld>
            <a:endParaRPr lang="en-US"/>
          </a:p>
        </p:txBody>
      </p:sp>
    </p:spTree>
    <p:extLst>
      <p:ext uri="{BB962C8B-B14F-4D97-AF65-F5344CB8AC3E}">
        <p14:creationId xmlns:p14="http://schemas.microsoft.com/office/powerpoint/2010/main" val="1939940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465CC-8CEC-33BF-111D-43BD3092AE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8DDB6D-2D96-3C6A-E77E-BF59A320342F}"/>
              </a:ext>
            </a:extLst>
          </p:cNvPr>
          <p:cNvSpPr>
            <a:spLocks noGrp="1"/>
          </p:cNvSpPr>
          <p:nvPr>
            <p:ph type="sldNum" sz="quarter" idx="11"/>
          </p:nvPr>
        </p:nvSpPr>
        <p:spPr/>
        <p:txBody>
          <a:bodyPr/>
          <a:lstStyle/>
          <a:p>
            <a:fld id="{294A09A9-5501-47C1-A89A-A340965A2BE2}" type="slidenum">
              <a:rPr lang="en-US" smtClean="0"/>
              <a:pPr/>
              <a:t>7</a:t>
            </a:fld>
            <a:endParaRPr lang="en-US" dirty="0"/>
          </a:p>
        </p:txBody>
      </p:sp>
      <p:sp>
        <p:nvSpPr>
          <p:cNvPr id="6" name="Content Placeholder 2">
            <a:extLst>
              <a:ext uri="{FF2B5EF4-FFF2-40B4-BE49-F238E27FC236}">
                <a16:creationId xmlns:a16="http://schemas.microsoft.com/office/drawing/2014/main" id="{CBE186BC-B72F-9932-7853-41F98DAB0F48}"/>
              </a:ext>
            </a:extLst>
          </p:cNvPr>
          <p:cNvSpPr txBox="1">
            <a:spLocks/>
          </p:cNvSpPr>
          <p:nvPr/>
        </p:nvSpPr>
        <p:spPr>
          <a:xfrm>
            <a:off x="850392" y="1839150"/>
            <a:ext cx="8522208" cy="4270705"/>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marL="228600" indent="-347472" algn="l">
              <a:lnSpc>
                <a:spcPct val="90000"/>
              </a:lnSpc>
              <a:buFont typeface="Courier New" panose="02070309020205020404" pitchFamily="49" charset="0"/>
              <a:buChar char="o"/>
            </a:pPr>
            <a:r>
              <a:rPr lang="en-US" sz="2200" b="1" dirty="0"/>
              <a:t>The </a:t>
            </a:r>
            <a:r>
              <a:rPr lang="en-US" sz="2200" b="1" dirty="0">
                <a:solidFill>
                  <a:schemeClr val="accent6"/>
                </a:solidFill>
              </a:rPr>
              <a:t>50+ </a:t>
            </a:r>
            <a:r>
              <a:rPr lang="en-US" sz="2200" b="1" dirty="0"/>
              <a:t>age group holds the largest share of wealth indicating a high-value client base.</a:t>
            </a:r>
          </a:p>
          <a:p>
            <a:pPr marL="228600" indent="-347472" algn="l">
              <a:lnSpc>
                <a:spcPct val="90000"/>
              </a:lnSpc>
              <a:buFont typeface="Courier New" panose="02070309020205020404" pitchFamily="49" charset="0"/>
              <a:buChar char="o"/>
            </a:pPr>
            <a:r>
              <a:rPr lang="en-US" sz="2200" b="1" dirty="0"/>
              <a:t>Debit cards </a:t>
            </a:r>
            <a:r>
              <a:rPr lang="en-US" sz="2200" b="1" dirty="0">
                <a:solidFill>
                  <a:schemeClr val="accent6"/>
                </a:solidFill>
              </a:rPr>
              <a:t>(62%) </a:t>
            </a:r>
            <a:r>
              <a:rPr lang="en-US" sz="2200" b="1" dirty="0"/>
              <a:t>are preferred over Credit </a:t>
            </a:r>
            <a:r>
              <a:rPr lang="en-US" sz="2200" b="1" dirty="0">
                <a:solidFill>
                  <a:schemeClr val="accent6"/>
                </a:solidFill>
              </a:rPr>
              <a:t>(38%) </a:t>
            </a:r>
            <a:r>
              <a:rPr lang="en-US" sz="2200" b="1" dirty="0"/>
              <a:t>indicating conservative customers who prefer to spend existing funds rather than borrow.</a:t>
            </a:r>
          </a:p>
          <a:p>
            <a:pPr marL="228600" indent="-347472" algn="l">
              <a:lnSpc>
                <a:spcPct val="90000"/>
              </a:lnSpc>
              <a:buFont typeface="Courier New" panose="02070309020205020404" pitchFamily="49" charset="0"/>
              <a:buChar char="o"/>
            </a:pPr>
            <a:r>
              <a:rPr lang="en-US" sz="2200" b="1" dirty="0"/>
              <a:t>Savings accounts hold almost double the total balance of Current accounts reinforcing the conservative customer profile.</a:t>
            </a:r>
          </a:p>
        </p:txBody>
      </p:sp>
      <p:sp>
        <p:nvSpPr>
          <p:cNvPr id="3" name="TextBox 2">
            <a:extLst>
              <a:ext uri="{FF2B5EF4-FFF2-40B4-BE49-F238E27FC236}">
                <a16:creationId xmlns:a16="http://schemas.microsoft.com/office/drawing/2014/main" id="{41FCA754-099C-B242-DF24-32CBC12E7D66}"/>
              </a:ext>
            </a:extLst>
          </p:cNvPr>
          <p:cNvSpPr txBox="1"/>
          <p:nvPr/>
        </p:nvSpPr>
        <p:spPr>
          <a:xfrm>
            <a:off x="850392" y="832104"/>
            <a:ext cx="10881360" cy="1069848"/>
          </a:xfrm>
          <a:prstGeom prst="rect">
            <a:avLst/>
          </a:prstGeom>
        </p:spPr>
        <p:txBody>
          <a:bodyPr vert="horz" lIns="91440" tIns="45720" rIns="91440" bIns="45720" rtlCol="0" anchor="ctr">
            <a:normAutofit/>
          </a:bodyPr>
          <a:lstStyle/>
          <a:p>
            <a:pPr>
              <a:lnSpc>
                <a:spcPct val="90000"/>
              </a:lnSpc>
              <a:spcBef>
                <a:spcPct val="0"/>
              </a:spcBef>
              <a:spcAft>
                <a:spcPts val="600"/>
              </a:spcAft>
            </a:pPr>
            <a:r>
              <a:rPr kumimoji="0" lang="en-US" sz="4000" b="1" i="0" u="none" strike="noStrike" kern="1200" cap="all" spc="600" normalizeH="0" baseline="0" noProof="0" dirty="0">
                <a:ln w="28575">
                  <a:noFill/>
                  <a:prstDash val="solid"/>
                </a:ln>
                <a:solidFill>
                  <a:schemeClr val="bg1"/>
                </a:solidFill>
                <a:effectLst/>
                <a:uLnTx/>
                <a:uFillTx/>
                <a:latin typeface="+mj-lt"/>
                <a:ea typeface="+mj-ea"/>
                <a:cs typeface="+mj-cs"/>
              </a:rPr>
              <a:t>key Insights: Customers</a:t>
            </a:r>
            <a:endParaRPr lang="en-US" sz="4000" b="1" kern="1200" cap="all" spc="600" baseline="0" dirty="0">
              <a:solidFill>
                <a:schemeClr val="bg1"/>
              </a:solidFill>
              <a:latin typeface="+mj-lt"/>
              <a:ea typeface="+mj-ea"/>
              <a:cs typeface="+mj-cs"/>
            </a:endParaRPr>
          </a:p>
        </p:txBody>
      </p:sp>
    </p:spTree>
    <p:extLst>
      <p:ext uri="{BB962C8B-B14F-4D97-AF65-F5344CB8AC3E}">
        <p14:creationId xmlns:p14="http://schemas.microsoft.com/office/powerpoint/2010/main" val="3611363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BEC0009D-6050-9E49-E698-47A2BF47B3DB}"/>
              </a:ext>
            </a:extLst>
          </p:cNvPr>
          <p:cNvPicPr>
            <a:picLocks noChangeAspect="1"/>
          </p:cNvPicPr>
          <p:nvPr/>
        </p:nvPicPr>
        <p:blipFill>
          <a:blip r:embed="rId2"/>
          <a:srcRect b="1747"/>
          <a:stretch>
            <a:fillRect/>
          </a:stretch>
        </p:blipFill>
        <p:spPr>
          <a:xfrm>
            <a:off x="20" y="10"/>
            <a:ext cx="12191980" cy="6857990"/>
          </a:xfrm>
          <a:prstGeom prst="rect">
            <a:avLst/>
          </a:prstGeom>
          <a:noFill/>
        </p:spPr>
      </p:pic>
      <p:sp>
        <p:nvSpPr>
          <p:cNvPr id="4" name="Slide Number Placeholder 3" hidden="1">
            <a:extLst>
              <a:ext uri="{FF2B5EF4-FFF2-40B4-BE49-F238E27FC236}">
                <a16:creationId xmlns:a16="http://schemas.microsoft.com/office/drawing/2014/main" id="{73BB1456-7679-00DB-1020-C75B77AA3E3E}"/>
              </a:ext>
            </a:extLst>
          </p:cNvPr>
          <p:cNvSpPr>
            <a:spLocks noGrp="1"/>
          </p:cNvSpPr>
          <p:nvPr>
            <p:ph type="sldNum" sz="quarter" idx="11"/>
          </p:nvPr>
        </p:nvSpPr>
        <p:spPr/>
        <p:txBody>
          <a:bodyPr/>
          <a:lstStyle/>
          <a:p>
            <a:pPr>
              <a:spcAft>
                <a:spcPts val="600"/>
              </a:spcAft>
            </a:pPr>
            <a:fld id="{294A09A9-5501-47C1-A89A-A340965A2BE2}" type="slidenum">
              <a:rPr lang="en-US" smtClean="0"/>
              <a:pPr>
                <a:spcAft>
                  <a:spcPts val="600"/>
                </a:spcAft>
              </a:pPr>
              <a:t>8</a:t>
            </a:fld>
            <a:endParaRPr lang="en-US"/>
          </a:p>
        </p:txBody>
      </p:sp>
    </p:spTree>
    <p:extLst>
      <p:ext uri="{BB962C8B-B14F-4D97-AF65-F5344CB8AC3E}">
        <p14:creationId xmlns:p14="http://schemas.microsoft.com/office/powerpoint/2010/main" val="2147718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C9415-A802-AC17-D7FE-47BB9EF0CEC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F2B8EF-8B7F-291E-0BA2-D35485D4D67A}"/>
              </a:ext>
            </a:extLst>
          </p:cNvPr>
          <p:cNvSpPr>
            <a:spLocks noGrp="1"/>
          </p:cNvSpPr>
          <p:nvPr>
            <p:ph type="sldNum" sz="quarter" idx="11"/>
          </p:nvPr>
        </p:nvSpPr>
        <p:spPr/>
        <p:txBody>
          <a:bodyPr/>
          <a:lstStyle/>
          <a:p>
            <a:fld id="{294A09A9-5501-47C1-A89A-A340965A2BE2}" type="slidenum">
              <a:rPr lang="en-US" smtClean="0"/>
              <a:pPr/>
              <a:t>9</a:t>
            </a:fld>
            <a:endParaRPr lang="en-US" dirty="0"/>
          </a:p>
        </p:txBody>
      </p:sp>
      <p:sp>
        <p:nvSpPr>
          <p:cNvPr id="6" name="Content Placeholder 2">
            <a:extLst>
              <a:ext uri="{FF2B5EF4-FFF2-40B4-BE49-F238E27FC236}">
                <a16:creationId xmlns:a16="http://schemas.microsoft.com/office/drawing/2014/main" id="{47C1D45C-055B-0BEC-DB8C-9DB9A062511E}"/>
              </a:ext>
            </a:extLst>
          </p:cNvPr>
          <p:cNvSpPr txBox="1">
            <a:spLocks/>
          </p:cNvSpPr>
          <p:nvPr/>
        </p:nvSpPr>
        <p:spPr>
          <a:xfrm>
            <a:off x="850392" y="1839150"/>
            <a:ext cx="8324781" cy="4270705"/>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marL="228600" indent="-347472" algn="l">
              <a:lnSpc>
                <a:spcPct val="90000"/>
              </a:lnSpc>
              <a:buFont typeface="Courier New" panose="02070309020205020404" pitchFamily="49" charset="0"/>
              <a:buChar char="o"/>
            </a:pPr>
            <a:r>
              <a:rPr lang="en-US" sz="2200" b="1" dirty="0"/>
              <a:t>Total Transaction amount is steady but the average amount spikes in September which means </a:t>
            </a:r>
            <a:r>
              <a:rPr lang="en-US" sz="2200" b="1" dirty="0">
                <a:solidFill>
                  <a:schemeClr val="accent6"/>
                </a:solidFill>
              </a:rPr>
              <a:t>fewer</a:t>
            </a:r>
            <a:r>
              <a:rPr lang="en-US" sz="2200" b="1" dirty="0"/>
              <a:t> transactions but with </a:t>
            </a:r>
            <a:r>
              <a:rPr lang="en-US" sz="2200" b="1" dirty="0">
                <a:solidFill>
                  <a:schemeClr val="accent6"/>
                </a:solidFill>
              </a:rPr>
              <a:t>larger</a:t>
            </a:r>
            <a:r>
              <a:rPr lang="en-US" sz="2200" b="1" dirty="0"/>
              <a:t> amounts are happening.</a:t>
            </a:r>
          </a:p>
          <a:p>
            <a:pPr marL="228600" indent="-347472" algn="l">
              <a:lnSpc>
                <a:spcPct val="90000"/>
              </a:lnSpc>
              <a:buFont typeface="Courier New" panose="02070309020205020404" pitchFamily="49" charset="0"/>
              <a:buChar char="o"/>
            </a:pPr>
            <a:r>
              <a:rPr lang="en-US" sz="2200" b="1" dirty="0"/>
              <a:t>Month-over-Month Growth is </a:t>
            </a:r>
            <a:r>
              <a:rPr lang="en-US" sz="2200" b="1" dirty="0">
                <a:solidFill>
                  <a:schemeClr val="accent6"/>
                </a:solidFill>
              </a:rPr>
              <a:t>7.9%</a:t>
            </a:r>
          </a:p>
          <a:p>
            <a:pPr marL="228600" indent="-347472" algn="l">
              <a:lnSpc>
                <a:spcPct val="90000"/>
              </a:lnSpc>
              <a:buFont typeface="Courier New" panose="02070309020205020404" pitchFamily="49" charset="0"/>
              <a:buChar char="o"/>
            </a:pPr>
            <a:r>
              <a:rPr lang="en-US" sz="2200" b="1" dirty="0"/>
              <a:t>ATM with </a:t>
            </a:r>
            <a:r>
              <a:rPr lang="en-US" sz="2200" b="1" dirty="0">
                <a:solidFill>
                  <a:schemeClr val="accent6"/>
                </a:solidFill>
              </a:rPr>
              <a:t>ID 200 (Aswan) </a:t>
            </a:r>
            <a:r>
              <a:rPr lang="en-US" sz="2200" b="1" dirty="0"/>
              <a:t>has the second highest total transaction amount but it is </a:t>
            </a:r>
            <a:r>
              <a:rPr lang="en-US" sz="2200" b="1" dirty="0">
                <a:solidFill>
                  <a:schemeClr val="accent6"/>
                </a:solidFill>
              </a:rPr>
              <a:t>out of service (broken) </a:t>
            </a:r>
            <a:r>
              <a:rPr lang="en-US" sz="2200" b="1" dirty="0"/>
              <a:t>that is a big </a:t>
            </a:r>
            <a:r>
              <a:rPr lang="en-US" sz="2200" b="1" dirty="0">
                <a:solidFill>
                  <a:srgbClr val="FF0000"/>
                </a:solidFill>
              </a:rPr>
              <a:t>red flag</a:t>
            </a:r>
            <a:r>
              <a:rPr lang="en-US" sz="2200" b="1" dirty="0"/>
              <a:t>.</a:t>
            </a:r>
          </a:p>
          <a:p>
            <a:pPr marL="228600" indent="-347472" algn="l">
              <a:lnSpc>
                <a:spcPct val="90000"/>
              </a:lnSpc>
              <a:buFont typeface="Courier New" panose="02070309020205020404" pitchFamily="49" charset="0"/>
              <a:buChar char="o"/>
            </a:pPr>
            <a:r>
              <a:rPr lang="en-US" sz="2200" b="1" dirty="0"/>
              <a:t>Debit cards dominate the transaction volume </a:t>
            </a:r>
            <a:r>
              <a:rPr lang="en-US" sz="2200" b="1" dirty="0">
                <a:solidFill>
                  <a:schemeClr val="accent6"/>
                </a:solidFill>
              </a:rPr>
              <a:t>(67.38%) </a:t>
            </a:r>
            <a:r>
              <a:rPr lang="en-US" sz="2200" b="1" dirty="0"/>
              <a:t>compared to Credit </a:t>
            </a:r>
            <a:r>
              <a:rPr lang="en-US" sz="2200" b="1" dirty="0">
                <a:solidFill>
                  <a:schemeClr val="accent6"/>
                </a:solidFill>
              </a:rPr>
              <a:t>(32.62%) </a:t>
            </a:r>
            <a:r>
              <a:rPr lang="en-US" sz="2200" b="1" dirty="0"/>
              <a:t>This perfectly aligns with the </a:t>
            </a:r>
            <a:r>
              <a:rPr lang="en-US" sz="2200" b="1" dirty="0">
                <a:solidFill>
                  <a:schemeClr val="accent6"/>
                </a:solidFill>
              </a:rPr>
              <a:t>"conservative customer" </a:t>
            </a:r>
            <a:r>
              <a:rPr lang="en-US" sz="2200" b="1" dirty="0"/>
              <a:t>profile and highlights an opportunity to upsell credit cards to increase fee revenue.</a:t>
            </a:r>
          </a:p>
        </p:txBody>
      </p:sp>
      <p:sp>
        <p:nvSpPr>
          <p:cNvPr id="3" name="TextBox 2">
            <a:extLst>
              <a:ext uri="{FF2B5EF4-FFF2-40B4-BE49-F238E27FC236}">
                <a16:creationId xmlns:a16="http://schemas.microsoft.com/office/drawing/2014/main" id="{15608504-3DCE-E2A1-C37B-83C51B0A0A5B}"/>
              </a:ext>
            </a:extLst>
          </p:cNvPr>
          <p:cNvSpPr txBox="1"/>
          <p:nvPr/>
        </p:nvSpPr>
        <p:spPr>
          <a:xfrm>
            <a:off x="850392" y="832104"/>
            <a:ext cx="10881360" cy="1069848"/>
          </a:xfrm>
          <a:prstGeom prst="rect">
            <a:avLst/>
          </a:prstGeom>
        </p:spPr>
        <p:txBody>
          <a:bodyPr vert="horz" lIns="91440" tIns="45720" rIns="91440" bIns="45720" rtlCol="0" anchor="ctr">
            <a:normAutofit/>
          </a:bodyPr>
          <a:lstStyle/>
          <a:p>
            <a:pPr>
              <a:lnSpc>
                <a:spcPct val="90000"/>
              </a:lnSpc>
              <a:spcBef>
                <a:spcPct val="0"/>
              </a:spcBef>
              <a:spcAft>
                <a:spcPts val="600"/>
              </a:spcAft>
            </a:pPr>
            <a:r>
              <a:rPr kumimoji="0" lang="en-US" sz="4000" b="1" i="0" u="none" strike="noStrike" kern="1200" cap="all" spc="600" normalizeH="0" baseline="0" noProof="0" dirty="0">
                <a:ln w="28575">
                  <a:noFill/>
                  <a:prstDash val="solid"/>
                </a:ln>
                <a:solidFill>
                  <a:schemeClr val="bg1"/>
                </a:solidFill>
                <a:effectLst/>
                <a:uLnTx/>
                <a:uFillTx/>
                <a:latin typeface="+mj-lt"/>
                <a:ea typeface="+mj-ea"/>
                <a:cs typeface="+mj-cs"/>
              </a:rPr>
              <a:t>key Insights: </a:t>
            </a:r>
            <a:r>
              <a:rPr lang="en-US" sz="4000" b="1" cap="all" spc="600" dirty="0">
                <a:ln w="28575">
                  <a:noFill/>
                  <a:prstDash val="solid"/>
                </a:ln>
                <a:solidFill>
                  <a:schemeClr val="bg1"/>
                </a:solidFill>
                <a:latin typeface="+mj-lt"/>
                <a:ea typeface="+mj-ea"/>
                <a:cs typeface="+mj-cs"/>
              </a:rPr>
              <a:t>transactions</a:t>
            </a:r>
            <a:endParaRPr lang="en-US" sz="4000" b="1" kern="1200" cap="all" spc="600" baseline="0" dirty="0">
              <a:solidFill>
                <a:schemeClr val="bg1"/>
              </a:solidFill>
              <a:latin typeface="+mj-lt"/>
              <a:ea typeface="+mj-ea"/>
              <a:cs typeface="+mj-cs"/>
            </a:endParaRPr>
          </a:p>
        </p:txBody>
      </p:sp>
    </p:spTree>
    <p:extLst>
      <p:ext uri="{BB962C8B-B14F-4D97-AF65-F5344CB8AC3E}">
        <p14:creationId xmlns:p14="http://schemas.microsoft.com/office/powerpoint/2010/main" val="778591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350AA43A-DACC-1E34-71D9-3ABA37DC1575}"/>
              </a:ext>
            </a:extLst>
          </p:cNvPr>
          <p:cNvPicPr>
            <a:picLocks noChangeAspect="1"/>
          </p:cNvPicPr>
          <p:nvPr/>
        </p:nvPicPr>
        <p:blipFill>
          <a:blip r:embed="rId2"/>
          <a:srcRect b="1747"/>
          <a:stretch>
            <a:fillRect/>
          </a:stretch>
        </p:blipFill>
        <p:spPr>
          <a:xfrm>
            <a:off x="20" y="10"/>
            <a:ext cx="12191980" cy="6857990"/>
          </a:xfrm>
          <a:prstGeom prst="rect">
            <a:avLst/>
          </a:prstGeom>
          <a:noFill/>
        </p:spPr>
      </p:pic>
      <p:sp>
        <p:nvSpPr>
          <p:cNvPr id="4" name="Slide Number Placeholder 3" hidden="1">
            <a:extLst>
              <a:ext uri="{FF2B5EF4-FFF2-40B4-BE49-F238E27FC236}">
                <a16:creationId xmlns:a16="http://schemas.microsoft.com/office/drawing/2014/main" id="{607FFB3F-6769-0F08-9BD3-383B0D3D4FCB}"/>
              </a:ext>
            </a:extLst>
          </p:cNvPr>
          <p:cNvSpPr>
            <a:spLocks noGrp="1"/>
          </p:cNvSpPr>
          <p:nvPr>
            <p:ph type="sldNum" sz="quarter" idx="11"/>
          </p:nvPr>
        </p:nvSpPr>
        <p:spPr/>
        <p:txBody>
          <a:bodyPr/>
          <a:lstStyle/>
          <a:p>
            <a:pPr>
              <a:spcAft>
                <a:spcPts val="600"/>
              </a:spcAft>
            </a:pPr>
            <a:fld id="{294A09A9-5501-47C1-A89A-A340965A2BE2}" type="slidenum">
              <a:rPr lang="en-US" smtClean="0"/>
              <a:pPr>
                <a:spcAft>
                  <a:spcPts val="600"/>
                </a:spcAft>
              </a:pPr>
              <a:t>10</a:t>
            </a:fld>
            <a:endParaRPr lang="en-US"/>
          </a:p>
        </p:txBody>
      </p:sp>
    </p:spTree>
    <p:extLst>
      <p:ext uri="{BB962C8B-B14F-4D97-AF65-F5344CB8AC3E}">
        <p14:creationId xmlns:p14="http://schemas.microsoft.com/office/powerpoint/2010/main" val="1890731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4F4-EE1B-9B86-3AA1-F6F85383A2D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241A05-288B-89DF-8E1E-F841E6FE61EB}"/>
              </a:ext>
            </a:extLst>
          </p:cNvPr>
          <p:cNvSpPr>
            <a:spLocks noGrp="1"/>
          </p:cNvSpPr>
          <p:nvPr>
            <p:ph type="sldNum" sz="quarter" idx="11"/>
          </p:nvPr>
        </p:nvSpPr>
        <p:spPr/>
        <p:txBody>
          <a:bodyPr/>
          <a:lstStyle/>
          <a:p>
            <a:fld id="{294A09A9-5501-47C1-A89A-A340965A2BE2}" type="slidenum">
              <a:rPr lang="en-US" smtClean="0"/>
              <a:pPr/>
              <a:t>11</a:t>
            </a:fld>
            <a:endParaRPr lang="en-US" dirty="0"/>
          </a:p>
        </p:txBody>
      </p:sp>
      <p:sp>
        <p:nvSpPr>
          <p:cNvPr id="6" name="Content Placeholder 2">
            <a:extLst>
              <a:ext uri="{FF2B5EF4-FFF2-40B4-BE49-F238E27FC236}">
                <a16:creationId xmlns:a16="http://schemas.microsoft.com/office/drawing/2014/main" id="{F7D05A48-554C-5F23-7022-7862D7A436BD}"/>
              </a:ext>
            </a:extLst>
          </p:cNvPr>
          <p:cNvSpPr txBox="1">
            <a:spLocks/>
          </p:cNvSpPr>
          <p:nvPr/>
        </p:nvSpPr>
        <p:spPr>
          <a:xfrm>
            <a:off x="850392" y="1839150"/>
            <a:ext cx="7462336" cy="4270705"/>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marL="228600" indent="-347472" algn="l">
              <a:lnSpc>
                <a:spcPct val="90000"/>
              </a:lnSpc>
              <a:buFont typeface="Courier New" panose="02070309020205020404" pitchFamily="49" charset="0"/>
              <a:buChar char="o"/>
            </a:pPr>
            <a:r>
              <a:rPr lang="en-US" sz="2200" b="1" dirty="0"/>
              <a:t>Almost </a:t>
            </a:r>
            <a:r>
              <a:rPr lang="en-US" sz="2200" b="1" dirty="0">
                <a:solidFill>
                  <a:schemeClr val="accent6"/>
                </a:solidFill>
              </a:rPr>
              <a:t>a third </a:t>
            </a:r>
            <a:r>
              <a:rPr lang="en-US" sz="2200" b="1" dirty="0"/>
              <a:t>of the bank’s money </a:t>
            </a:r>
            <a:r>
              <a:rPr lang="en-US" sz="2200" b="1" dirty="0">
                <a:solidFill>
                  <a:schemeClr val="accent6"/>
                </a:solidFill>
              </a:rPr>
              <a:t>($115M) </a:t>
            </a:r>
            <a:r>
              <a:rPr lang="en-US" sz="2200" b="1" dirty="0"/>
              <a:t>is currently sitting in </a:t>
            </a:r>
            <a:r>
              <a:rPr lang="en-US" sz="2200" b="1" dirty="0">
                <a:solidFill>
                  <a:srgbClr val="FF0000"/>
                </a:solidFill>
              </a:rPr>
              <a:t>High Risk </a:t>
            </a:r>
            <a:r>
              <a:rPr lang="en-US" sz="2200" b="1" dirty="0"/>
              <a:t>lending which requires careful loan monitoring.</a:t>
            </a:r>
          </a:p>
          <a:p>
            <a:pPr marL="228600" indent="-347472" algn="l">
              <a:lnSpc>
                <a:spcPct val="90000"/>
              </a:lnSpc>
              <a:buFont typeface="Courier New" panose="02070309020205020404" pitchFamily="49" charset="0"/>
              <a:buChar char="o"/>
            </a:pPr>
            <a:r>
              <a:rPr lang="en-US" sz="2200" b="1" dirty="0"/>
              <a:t>Loan amounts are evenly distributed across </a:t>
            </a:r>
            <a:r>
              <a:rPr lang="en-US" sz="2200" b="1" dirty="0">
                <a:solidFill>
                  <a:schemeClr val="accent6"/>
                </a:solidFill>
              </a:rPr>
              <a:t>12</a:t>
            </a:r>
            <a:r>
              <a:rPr lang="en-US" sz="2200" b="1" dirty="0"/>
              <a:t>, </a:t>
            </a:r>
            <a:r>
              <a:rPr lang="en-US" sz="2200" b="1" dirty="0">
                <a:solidFill>
                  <a:schemeClr val="accent6"/>
                </a:solidFill>
              </a:rPr>
              <a:t>24</a:t>
            </a:r>
            <a:r>
              <a:rPr lang="en-US" sz="2200" b="1" dirty="0"/>
              <a:t>, and   </a:t>
            </a:r>
            <a:r>
              <a:rPr lang="en-US" sz="2200" b="1" dirty="0">
                <a:solidFill>
                  <a:schemeClr val="accent6"/>
                </a:solidFill>
              </a:rPr>
              <a:t>36</a:t>
            </a:r>
            <a:r>
              <a:rPr lang="en-US" sz="2200" b="1" dirty="0"/>
              <a:t>-month terms.</a:t>
            </a:r>
          </a:p>
          <a:p>
            <a:pPr marL="228600" indent="-347472" algn="l">
              <a:lnSpc>
                <a:spcPct val="90000"/>
              </a:lnSpc>
              <a:buFont typeface="Courier New" panose="02070309020205020404" pitchFamily="49" charset="0"/>
              <a:buChar char="o"/>
            </a:pPr>
            <a:r>
              <a:rPr lang="en-US" sz="2200" b="1" dirty="0"/>
              <a:t>The older generation is borrowing a lot, while the younger generation isn't borrowing much which shows that the older demographic is where the bank's lending profit comes from.</a:t>
            </a:r>
          </a:p>
        </p:txBody>
      </p:sp>
      <p:sp>
        <p:nvSpPr>
          <p:cNvPr id="3" name="TextBox 2">
            <a:extLst>
              <a:ext uri="{FF2B5EF4-FFF2-40B4-BE49-F238E27FC236}">
                <a16:creationId xmlns:a16="http://schemas.microsoft.com/office/drawing/2014/main" id="{E0C58191-E3BA-0332-CE6A-E21FE38545D0}"/>
              </a:ext>
            </a:extLst>
          </p:cNvPr>
          <p:cNvSpPr txBox="1"/>
          <p:nvPr/>
        </p:nvSpPr>
        <p:spPr>
          <a:xfrm>
            <a:off x="850392" y="832104"/>
            <a:ext cx="10881360" cy="1069848"/>
          </a:xfrm>
          <a:prstGeom prst="rect">
            <a:avLst/>
          </a:prstGeom>
        </p:spPr>
        <p:txBody>
          <a:bodyPr vert="horz" lIns="91440" tIns="45720" rIns="91440" bIns="45720" rtlCol="0" anchor="ctr">
            <a:normAutofit/>
          </a:bodyPr>
          <a:lstStyle/>
          <a:p>
            <a:pPr>
              <a:lnSpc>
                <a:spcPct val="90000"/>
              </a:lnSpc>
              <a:spcBef>
                <a:spcPct val="0"/>
              </a:spcBef>
              <a:spcAft>
                <a:spcPts val="600"/>
              </a:spcAft>
            </a:pPr>
            <a:r>
              <a:rPr kumimoji="0" lang="en-US" sz="4000" b="1" i="0" u="none" strike="noStrike" kern="1200" cap="all" spc="600" normalizeH="0" baseline="0" noProof="0" dirty="0">
                <a:ln w="28575">
                  <a:noFill/>
                  <a:prstDash val="solid"/>
                </a:ln>
                <a:solidFill>
                  <a:schemeClr val="bg1"/>
                </a:solidFill>
                <a:effectLst/>
                <a:uLnTx/>
                <a:uFillTx/>
                <a:latin typeface="+mj-lt"/>
                <a:ea typeface="+mj-ea"/>
                <a:cs typeface="+mj-cs"/>
              </a:rPr>
              <a:t>key Insights: </a:t>
            </a:r>
            <a:r>
              <a:rPr lang="en-US" sz="4000" b="1" cap="all" spc="600" dirty="0">
                <a:ln w="28575">
                  <a:noFill/>
                  <a:prstDash val="solid"/>
                </a:ln>
                <a:solidFill>
                  <a:schemeClr val="bg1"/>
                </a:solidFill>
                <a:latin typeface="+mj-lt"/>
                <a:ea typeface="+mj-ea"/>
                <a:cs typeface="+mj-cs"/>
              </a:rPr>
              <a:t>accounts &amp; Loans</a:t>
            </a:r>
            <a:endParaRPr lang="en-US" sz="4000" b="1" kern="1200" cap="all" spc="600" baseline="0" dirty="0">
              <a:solidFill>
                <a:schemeClr val="bg1"/>
              </a:solidFill>
              <a:latin typeface="+mj-lt"/>
              <a:ea typeface="+mj-ea"/>
              <a:cs typeface="+mj-cs"/>
            </a:endParaRPr>
          </a:p>
        </p:txBody>
      </p:sp>
    </p:spTree>
    <p:extLst>
      <p:ext uri="{BB962C8B-B14F-4D97-AF65-F5344CB8AC3E}">
        <p14:creationId xmlns:p14="http://schemas.microsoft.com/office/powerpoint/2010/main" val="4108027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20C1FE7B-29E3-3B7B-91D5-A48F9D7BF1C0}"/>
              </a:ext>
            </a:extLst>
          </p:cNvPr>
          <p:cNvPicPr>
            <a:picLocks noChangeAspect="1"/>
          </p:cNvPicPr>
          <p:nvPr/>
        </p:nvPicPr>
        <p:blipFill>
          <a:blip r:embed="rId2"/>
          <a:srcRect b="1747"/>
          <a:stretch>
            <a:fillRect/>
          </a:stretch>
        </p:blipFill>
        <p:spPr>
          <a:xfrm>
            <a:off x="20" y="10"/>
            <a:ext cx="12191980" cy="6857990"/>
          </a:xfrm>
          <a:prstGeom prst="rect">
            <a:avLst/>
          </a:prstGeom>
          <a:noFill/>
        </p:spPr>
      </p:pic>
      <p:sp>
        <p:nvSpPr>
          <p:cNvPr id="4" name="Slide Number Placeholder 3" hidden="1">
            <a:extLst>
              <a:ext uri="{FF2B5EF4-FFF2-40B4-BE49-F238E27FC236}">
                <a16:creationId xmlns:a16="http://schemas.microsoft.com/office/drawing/2014/main" id="{D1C8B23E-B50F-5D56-AEAA-F29EC0D8496A}"/>
              </a:ext>
            </a:extLst>
          </p:cNvPr>
          <p:cNvSpPr>
            <a:spLocks noGrp="1"/>
          </p:cNvSpPr>
          <p:nvPr>
            <p:ph type="sldNum" sz="quarter" idx="11"/>
          </p:nvPr>
        </p:nvSpPr>
        <p:spPr/>
        <p:txBody>
          <a:bodyPr/>
          <a:lstStyle/>
          <a:p>
            <a:pPr>
              <a:spcAft>
                <a:spcPts val="600"/>
              </a:spcAft>
            </a:pPr>
            <a:fld id="{294A09A9-5501-47C1-A89A-A340965A2BE2}" type="slidenum">
              <a:rPr lang="en-US" smtClean="0"/>
              <a:pPr>
                <a:spcAft>
                  <a:spcPts val="600"/>
                </a:spcAft>
              </a:pPr>
              <a:t>12</a:t>
            </a:fld>
            <a:endParaRPr lang="en-US"/>
          </a:p>
        </p:txBody>
      </p:sp>
    </p:spTree>
    <p:extLst>
      <p:ext uri="{BB962C8B-B14F-4D97-AF65-F5344CB8AC3E}">
        <p14:creationId xmlns:p14="http://schemas.microsoft.com/office/powerpoint/2010/main" val="1742604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23923-8666-EC6F-0CA9-84D3616228C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26B329-516D-3775-1417-AB5F9D56E606}"/>
              </a:ext>
            </a:extLst>
          </p:cNvPr>
          <p:cNvSpPr>
            <a:spLocks noGrp="1"/>
          </p:cNvSpPr>
          <p:nvPr>
            <p:ph type="sldNum" sz="quarter" idx="11"/>
          </p:nvPr>
        </p:nvSpPr>
        <p:spPr/>
        <p:txBody>
          <a:bodyPr/>
          <a:lstStyle/>
          <a:p>
            <a:fld id="{294A09A9-5501-47C1-A89A-A340965A2BE2}" type="slidenum">
              <a:rPr lang="en-US" smtClean="0"/>
              <a:pPr/>
              <a:t>13</a:t>
            </a:fld>
            <a:endParaRPr lang="en-US" dirty="0"/>
          </a:p>
        </p:txBody>
      </p:sp>
      <p:sp>
        <p:nvSpPr>
          <p:cNvPr id="6" name="Content Placeholder 2">
            <a:extLst>
              <a:ext uri="{FF2B5EF4-FFF2-40B4-BE49-F238E27FC236}">
                <a16:creationId xmlns:a16="http://schemas.microsoft.com/office/drawing/2014/main" id="{A0211A86-E0BC-662A-3F9F-7D62E98C3629}"/>
              </a:ext>
            </a:extLst>
          </p:cNvPr>
          <p:cNvSpPr txBox="1">
            <a:spLocks/>
          </p:cNvSpPr>
          <p:nvPr/>
        </p:nvSpPr>
        <p:spPr>
          <a:xfrm>
            <a:off x="850392" y="1839150"/>
            <a:ext cx="8324781" cy="4270705"/>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marL="228600" indent="-347472" algn="l">
              <a:lnSpc>
                <a:spcPct val="90000"/>
              </a:lnSpc>
              <a:buFont typeface="Courier New" panose="02070309020205020404" pitchFamily="49" charset="0"/>
              <a:buChar char="o"/>
            </a:pPr>
            <a:r>
              <a:rPr lang="en-US" sz="2200" b="1" dirty="0"/>
              <a:t>EmpFirst199 is a Clerk yet they are the highest paid employee in the entire bank </a:t>
            </a:r>
            <a:r>
              <a:rPr lang="en-US" sz="2200" b="1" dirty="0">
                <a:solidFill>
                  <a:schemeClr val="accent6"/>
                </a:solidFill>
              </a:rPr>
              <a:t>($28,184.54) </a:t>
            </a:r>
            <a:r>
              <a:rPr lang="en-US" sz="2200" b="1" dirty="0"/>
              <a:t>they are out earning the Managers   that is a massive </a:t>
            </a:r>
            <a:r>
              <a:rPr lang="en-US" sz="2200" b="1" dirty="0">
                <a:solidFill>
                  <a:srgbClr val="FF0000"/>
                </a:solidFill>
              </a:rPr>
              <a:t>red flag</a:t>
            </a:r>
            <a:r>
              <a:rPr lang="en-US" sz="2200" b="1" dirty="0"/>
              <a:t> it suggests potential payroll fraud, favoritism, or a major flaw in the compensation structure.</a:t>
            </a:r>
          </a:p>
          <a:p>
            <a:pPr marL="228600" indent="-347472" algn="l">
              <a:lnSpc>
                <a:spcPct val="90000"/>
              </a:lnSpc>
              <a:buFont typeface="Courier New" panose="02070309020205020404" pitchFamily="49" charset="0"/>
              <a:buChar char="o"/>
            </a:pPr>
            <a:r>
              <a:rPr lang="en-US" sz="2200" b="1" dirty="0"/>
              <a:t>The bank operates with </a:t>
            </a:r>
            <a:r>
              <a:rPr lang="en-US" sz="2200" b="1" dirty="0">
                <a:solidFill>
                  <a:schemeClr val="accent6"/>
                </a:solidFill>
              </a:rPr>
              <a:t>200</a:t>
            </a:r>
            <a:r>
              <a:rPr lang="en-US" sz="2200" b="1" dirty="0"/>
              <a:t> employees across </a:t>
            </a:r>
            <a:r>
              <a:rPr lang="en-US" sz="2200" b="1" dirty="0">
                <a:solidFill>
                  <a:schemeClr val="accent6"/>
                </a:solidFill>
              </a:rPr>
              <a:t>5</a:t>
            </a:r>
            <a:r>
              <a:rPr lang="en-US" sz="2200" b="1" dirty="0"/>
              <a:t> branches.</a:t>
            </a:r>
          </a:p>
          <a:p>
            <a:pPr marL="228600" indent="-347472" algn="l">
              <a:lnSpc>
                <a:spcPct val="90000"/>
              </a:lnSpc>
              <a:buFont typeface="Courier New" panose="02070309020205020404" pitchFamily="49" charset="0"/>
              <a:buChar char="o"/>
            </a:pPr>
            <a:r>
              <a:rPr lang="en-US" sz="2200" b="1" dirty="0"/>
              <a:t>Managers earn the highest average salary </a:t>
            </a:r>
            <a:r>
              <a:rPr lang="en-US" sz="2200" b="1" dirty="0">
                <a:solidFill>
                  <a:schemeClr val="accent6"/>
                </a:solidFill>
              </a:rPr>
              <a:t>($16,417.71) </a:t>
            </a:r>
            <a:r>
              <a:rPr lang="en-US" sz="2200" b="1" dirty="0"/>
              <a:t>followed   by Clerks.</a:t>
            </a:r>
          </a:p>
          <a:p>
            <a:pPr marL="228600" indent="-347472" algn="l">
              <a:lnSpc>
                <a:spcPct val="90000"/>
              </a:lnSpc>
              <a:buFont typeface="Courier New" panose="02070309020205020404" pitchFamily="49" charset="0"/>
              <a:buChar char="o"/>
            </a:pPr>
            <a:r>
              <a:rPr lang="en-US" sz="2200" b="1" dirty="0">
                <a:solidFill>
                  <a:schemeClr val="accent6"/>
                </a:solidFill>
              </a:rPr>
              <a:t>96% </a:t>
            </a:r>
            <a:r>
              <a:rPr lang="en-US" sz="2200" b="1" dirty="0"/>
              <a:t>of ATMs are </a:t>
            </a:r>
            <a:r>
              <a:rPr lang="en-US" sz="2200" b="1" dirty="0">
                <a:solidFill>
                  <a:schemeClr val="accent6"/>
                </a:solidFill>
              </a:rPr>
              <a:t>Active</a:t>
            </a:r>
            <a:r>
              <a:rPr lang="en-US" sz="2200" b="1" dirty="0"/>
              <a:t> indicating highly reliable operational infrastructure.</a:t>
            </a:r>
          </a:p>
        </p:txBody>
      </p:sp>
      <p:sp>
        <p:nvSpPr>
          <p:cNvPr id="3" name="TextBox 2">
            <a:extLst>
              <a:ext uri="{FF2B5EF4-FFF2-40B4-BE49-F238E27FC236}">
                <a16:creationId xmlns:a16="http://schemas.microsoft.com/office/drawing/2014/main" id="{FD77A4F2-50FB-3CDC-C471-2613A92903B4}"/>
              </a:ext>
            </a:extLst>
          </p:cNvPr>
          <p:cNvSpPr txBox="1"/>
          <p:nvPr/>
        </p:nvSpPr>
        <p:spPr>
          <a:xfrm>
            <a:off x="850392" y="832104"/>
            <a:ext cx="10881360" cy="1069848"/>
          </a:xfrm>
          <a:prstGeom prst="rect">
            <a:avLst/>
          </a:prstGeom>
        </p:spPr>
        <p:txBody>
          <a:bodyPr vert="horz" lIns="91440" tIns="45720" rIns="91440" bIns="45720" rtlCol="0" anchor="ctr">
            <a:normAutofit fontScale="92500" lnSpcReduction="20000"/>
          </a:bodyPr>
          <a:lstStyle/>
          <a:p>
            <a:pPr>
              <a:lnSpc>
                <a:spcPct val="90000"/>
              </a:lnSpc>
              <a:spcBef>
                <a:spcPct val="0"/>
              </a:spcBef>
              <a:spcAft>
                <a:spcPts val="600"/>
              </a:spcAft>
            </a:pPr>
            <a:r>
              <a:rPr kumimoji="0" lang="en-US" sz="4000" b="1" i="0" u="none" strike="noStrike" kern="1200" cap="all" spc="600" normalizeH="0" baseline="0" noProof="0" dirty="0">
                <a:ln w="28575">
                  <a:noFill/>
                  <a:prstDash val="solid"/>
                </a:ln>
                <a:solidFill>
                  <a:schemeClr val="bg1"/>
                </a:solidFill>
                <a:effectLst/>
                <a:uLnTx/>
                <a:uFillTx/>
                <a:latin typeface="+mj-lt"/>
                <a:ea typeface="+mj-ea"/>
                <a:cs typeface="+mj-cs"/>
              </a:rPr>
              <a:t>key Insights: Locations </a:t>
            </a:r>
          </a:p>
          <a:p>
            <a:pPr>
              <a:lnSpc>
                <a:spcPct val="90000"/>
              </a:lnSpc>
              <a:spcBef>
                <a:spcPct val="0"/>
              </a:spcBef>
              <a:spcAft>
                <a:spcPts val="600"/>
              </a:spcAft>
            </a:pPr>
            <a:r>
              <a:rPr kumimoji="0" lang="en-US" sz="4000" b="1" i="0" u="none" strike="noStrike" kern="1200" cap="all" spc="600" normalizeH="0" baseline="0" noProof="0" dirty="0">
                <a:ln w="28575">
                  <a:noFill/>
                  <a:prstDash val="solid"/>
                </a:ln>
                <a:solidFill>
                  <a:schemeClr val="bg1"/>
                </a:solidFill>
                <a:effectLst/>
                <a:uLnTx/>
                <a:uFillTx/>
                <a:latin typeface="+mj-lt"/>
                <a:ea typeface="+mj-ea"/>
                <a:cs typeface="+mj-cs"/>
              </a:rPr>
              <a:t>                                &amp; Operations</a:t>
            </a:r>
            <a:endParaRPr lang="en-US" sz="4000" b="1" kern="1200" cap="all" spc="600" baseline="0" dirty="0">
              <a:solidFill>
                <a:schemeClr val="bg1"/>
              </a:solidFill>
              <a:latin typeface="+mj-lt"/>
              <a:ea typeface="+mj-ea"/>
              <a:cs typeface="+mj-cs"/>
            </a:endParaRPr>
          </a:p>
        </p:txBody>
      </p:sp>
    </p:spTree>
    <p:extLst>
      <p:ext uri="{BB962C8B-B14F-4D97-AF65-F5344CB8AC3E}">
        <p14:creationId xmlns:p14="http://schemas.microsoft.com/office/powerpoint/2010/main" val="2246592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error&#10;&#10;AI-generated content may be incorrect.">
            <a:extLst>
              <a:ext uri="{FF2B5EF4-FFF2-40B4-BE49-F238E27FC236}">
                <a16:creationId xmlns:a16="http://schemas.microsoft.com/office/drawing/2014/main" id="{9ED71BFB-7187-31C8-39CF-11204BD3AFD7}"/>
              </a:ext>
            </a:extLst>
          </p:cNvPr>
          <p:cNvPicPr>
            <a:picLocks noChangeAspect="1"/>
          </p:cNvPicPr>
          <p:nvPr/>
        </p:nvPicPr>
        <p:blipFill>
          <a:blip r:embed="rId2"/>
          <a:stretch>
            <a:fillRect/>
          </a:stretch>
        </p:blipFill>
        <p:spPr>
          <a:xfrm>
            <a:off x="2352954" y="1175143"/>
            <a:ext cx="7248845" cy="2066820"/>
          </a:xfrm>
          <a:prstGeom prst="rect">
            <a:avLst/>
          </a:prstGeom>
        </p:spPr>
      </p:pic>
      <p:sp>
        <p:nvSpPr>
          <p:cNvPr id="4" name="TextBox 3">
            <a:extLst>
              <a:ext uri="{FF2B5EF4-FFF2-40B4-BE49-F238E27FC236}">
                <a16:creationId xmlns:a16="http://schemas.microsoft.com/office/drawing/2014/main" id="{4F2B7DDD-B553-5CFF-C822-907C06FF5A80}"/>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Customer Density by state</a:t>
            </a:r>
            <a:endParaRPr lang="en-US" sz="3200" b="1" kern="1200" cap="all" spc="600" baseline="0" dirty="0">
              <a:solidFill>
                <a:schemeClr val="bg1"/>
              </a:solidFill>
              <a:latin typeface="+mj-lt"/>
              <a:ea typeface="+mj-ea"/>
              <a:cs typeface="+mj-cs"/>
            </a:endParaRPr>
          </a:p>
        </p:txBody>
      </p:sp>
      <p:sp>
        <p:nvSpPr>
          <p:cNvPr id="12" name="TextBox 11">
            <a:extLst>
              <a:ext uri="{FF2B5EF4-FFF2-40B4-BE49-F238E27FC236}">
                <a16:creationId xmlns:a16="http://schemas.microsoft.com/office/drawing/2014/main" id="{E95F4333-2774-C4C0-3B31-D4E6944BA600}"/>
              </a:ext>
            </a:extLst>
          </p:cNvPr>
          <p:cNvSpPr txBox="1"/>
          <p:nvPr/>
        </p:nvSpPr>
        <p:spPr>
          <a:xfrm>
            <a:off x="1478107" y="3501736"/>
            <a:ext cx="8871238" cy="1685526"/>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It identifies which states have the highest customer density to guide local branch marketing and expansion strategies.</a:t>
            </a:r>
          </a:p>
        </p:txBody>
      </p:sp>
    </p:spTree>
    <p:extLst>
      <p:ext uri="{BB962C8B-B14F-4D97-AF65-F5344CB8AC3E}">
        <p14:creationId xmlns:p14="http://schemas.microsoft.com/office/powerpoint/2010/main" val="769262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17455-8451-9B0C-82DE-5814B134D35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C6BDC1-A4E5-23D9-5F97-0835F7AA69CB}"/>
              </a:ext>
            </a:extLst>
          </p:cNvPr>
          <p:cNvPicPr>
            <a:picLocks noChangeAspect="1"/>
          </p:cNvPicPr>
          <p:nvPr/>
        </p:nvPicPr>
        <p:blipFill>
          <a:blip r:embed="rId2"/>
          <a:srcRect/>
          <a:stretch/>
        </p:blipFill>
        <p:spPr>
          <a:xfrm>
            <a:off x="2077856" y="1256415"/>
            <a:ext cx="8036288" cy="1995940"/>
          </a:xfrm>
          <a:prstGeom prst="rect">
            <a:avLst/>
          </a:prstGeom>
        </p:spPr>
      </p:pic>
      <p:sp>
        <p:nvSpPr>
          <p:cNvPr id="4" name="TextBox 3">
            <a:extLst>
              <a:ext uri="{FF2B5EF4-FFF2-40B4-BE49-F238E27FC236}">
                <a16:creationId xmlns:a16="http://schemas.microsoft.com/office/drawing/2014/main" id="{F069C089-5DE4-2BF2-7406-9612B50B2997}"/>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Identifying Dormant Accounts</a:t>
            </a:r>
            <a:endParaRPr lang="en-US" sz="3200" b="1" kern="1200" cap="all" spc="600" baseline="0" dirty="0">
              <a:solidFill>
                <a:schemeClr val="bg1"/>
              </a:solidFill>
              <a:latin typeface="+mj-lt"/>
              <a:ea typeface="+mj-ea"/>
              <a:cs typeface="+mj-cs"/>
            </a:endParaRPr>
          </a:p>
        </p:txBody>
      </p:sp>
      <p:sp>
        <p:nvSpPr>
          <p:cNvPr id="12" name="TextBox 11">
            <a:extLst>
              <a:ext uri="{FF2B5EF4-FFF2-40B4-BE49-F238E27FC236}">
                <a16:creationId xmlns:a16="http://schemas.microsoft.com/office/drawing/2014/main" id="{5874A01B-78E7-3274-F774-81EAA52C10A4}"/>
              </a:ext>
            </a:extLst>
          </p:cNvPr>
          <p:cNvSpPr txBox="1"/>
          <p:nvPr/>
        </p:nvSpPr>
        <p:spPr>
          <a:xfrm>
            <a:off x="1478106" y="3501736"/>
            <a:ext cx="8798503" cy="1685526"/>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The bank can launch reactivation campaigns (offering free checking or ATM fee waivers) to bring them back to life.</a:t>
            </a:r>
          </a:p>
        </p:txBody>
      </p:sp>
    </p:spTree>
    <p:extLst>
      <p:ext uri="{BB962C8B-B14F-4D97-AF65-F5344CB8AC3E}">
        <p14:creationId xmlns:p14="http://schemas.microsoft.com/office/powerpoint/2010/main" val="1819659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43E3F-5592-941F-5BDB-3EF0F5C8572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B52945-9B40-E9AA-3DEB-97F4708776D2}"/>
              </a:ext>
            </a:extLst>
          </p:cNvPr>
          <p:cNvPicPr>
            <a:picLocks noChangeAspect="1"/>
          </p:cNvPicPr>
          <p:nvPr/>
        </p:nvPicPr>
        <p:blipFill>
          <a:blip r:embed="rId2"/>
          <a:srcRect/>
          <a:stretch/>
        </p:blipFill>
        <p:spPr>
          <a:xfrm>
            <a:off x="2382675" y="1183679"/>
            <a:ext cx="7238746" cy="2172585"/>
          </a:xfrm>
          <a:prstGeom prst="rect">
            <a:avLst/>
          </a:prstGeom>
        </p:spPr>
      </p:pic>
      <p:sp>
        <p:nvSpPr>
          <p:cNvPr id="12" name="TextBox 11">
            <a:extLst>
              <a:ext uri="{FF2B5EF4-FFF2-40B4-BE49-F238E27FC236}">
                <a16:creationId xmlns:a16="http://schemas.microsoft.com/office/drawing/2014/main" id="{BCE4D788-A737-07AB-9E2F-166A497B3E95}"/>
              </a:ext>
            </a:extLst>
          </p:cNvPr>
          <p:cNvSpPr txBox="1"/>
          <p:nvPr/>
        </p:nvSpPr>
        <p:spPr>
          <a:xfrm>
            <a:off x="1478106" y="3501736"/>
            <a:ext cx="9037494" cy="2239524"/>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It identifies which loan type generates the largest revenue (Total Amount), the typical customer ticket size (Average), and the risk range of each product (Minimum vs. Maximum) to guide capital allocation and marketing strategies.</a:t>
            </a:r>
          </a:p>
        </p:txBody>
      </p:sp>
      <p:sp>
        <p:nvSpPr>
          <p:cNvPr id="4" name="TextBox 3">
            <a:extLst>
              <a:ext uri="{FF2B5EF4-FFF2-40B4-BE49-F238E27FC236}">
                <a16:creationId xmlns:a16="http://schemas.microsoft.com/office/drawing/2014/main" id="{C2F8346E-94D7-FB2F-B5A9-324C1578D8F4}"/>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Loan Amount Analysis</a:t>
            </a:r>
            <a:endParaRPr lang="en-US" sz="3200" b="1" kern="1200" cap="all" spc="600" baseline="0" dirty="0">
              <a:solidFill>
                <a:schemeClr val="bg1"/>
              </a:solidFill>
              <a:latin typeface="+mj-lt"/>
              <a:ea typeface="+mj-ea"/>
              <a:cs typeface="+mj-cs"/>
            </a:endParaRPr>
          </a:p>
        </p:txBody>
      </p:sp>
    </p:spTree>
    <p:extLst>
      <p:ext uri="{BB962C8B-B14F-4D97-AF65-F5344CB8AC3E}">
        <p14:creationId xmlns:p14="http://schemas.microsoft.com/office/powerpoint/2010/main" val="720946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69444-F456-C07A-81B8-239A3E3214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6165A7-0180-BD84-2E2D-76C870B5A7E4}"/>
              </a:ext>
            </a:extLst>
          </p:cNvPr>
          <p:cNvPicPr>
            <a:picLocks noChangeAspect="1"/>
          </p:cNvPicPr>
          <p:nvPr/>
        </p:nvPicPr>
        <p:blipFill>
          <a:blip r:embed="rId2"/>
          <a:srcRect/>
          <a:stretch/>
        </p:blipFill>
        <p:spPr>
          <a:xfrm>
            <a:off x="2621189" y="934296"/>
            <a:ext cx="6602010" cy="2775258"/>
          </a:xfrm>
          <a:prstGeom prst="rect">
            <a:avLst/>
          </a:prstGeom>
        </p:spPr>
      </p:pic>
      <p:sp>
        <p:nvSpPr>
          <p:cNvPr id="12" name="TextBox 11">
            <a:extLst>
              <a:ext uri="{FF2B5EF4-FFF2-40B4-BE49-F238E27FC236}">
                <a16:creationId xmlns:a16="http://schemas.microsoft.com/office/drawing/2014/main" id="{91ADA155-F335-54F8-8E12-F2197A99CE47}"/>
              </a:ext>
            </a:extLst>
          </p:cNvPr>
          <p:cNvSpPr txBox="1"/>
          <p:nvPr/>
        </p:nvSpPr>
        <p:spPr>
          <a:xfrm>
            <a:off x="1522942" y="3803072"/>
            <a:ext cx="8798503" cy="1685526"/>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Identifies which locations hold the wealthiest customers, allowing the bank to allocate top-tier advisory staff to those specific branches.</a:t>
            </a:r>
          </a:p>
        </p:txBody>
      </p:sp>
      <p:sp>
        <p:nvSpPr>
          <p:cNvPr id="2" name="TextBox 1">
            <a:extLst>
              <a:ext uri="{FF2B5EF4-FFF2-40B4-BE49-F238E27FC236}">
                <a16:creationId xmlns:a16="http://schemas.microsoft.com/office/drawing/2014/main" id="{0D06D413-511A-9D41-F326-663159A1D88D}"/>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Top Branches by Customer Wealth</a:t>
            </a:r>
            <a:endParaRPr lang="en-US" sz="3200" b="1" kern="1200" cap="all" spc="600" baseline="0" dirty="0">
              <a:solidFill>
                <a:schemeClr val="bg1"/>
              </a:solidFill>
              <a:latin typeface="+mj-lt"/>
              <a:ea typeface="+mj-ea"/>
              <a:cs typeface="+mj-cs"/>
            </a:endParaRPr>
          </a:p>
        </p:txBody>
      </p:sp>
    </p:spTree>
    <p:extLst>
      <p:ext uri="{BB962C8B-B14F-4D97-AF65-F5344CB8AC3E}">
        <p14:creationId xmlns:p14="http://schemas.microsoft.com/office/powerpoint/2010/main" val="3286088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152AC-EF34-7919-288F-C4D43B3C645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95935F5-55C0-BD76-B1EE-0826BC000016}"/>
              </a:ext>
            </a:extLst>
          </p:cNvPr>
          <p:cNvPicPr>
            <a:picLocks noChangeAspect="1"/>
          </p:cNvPicPr>
          <p:nvPr/>
        </p:nvPicPr>
        <p:blipFill>
          <a:blip r:embed="rId2"/>
          <a:srcRect/>
          <a:stretch/>
        </p:blipFill>
        <p:spPr>
          <a:xfrm>
            <a:off x="2661942" y="996643"/>
            <a:ext cx="6696343" cy="2577830"/>
          </a:xfrm>
          <a:prstGeom prst="rect">
            <a:avLst/>
          </a:prstGeom>
        </p:spPr>
      </p:pic>
      <p:sp>
        <p:nvSpPr>
          <p:cNvPr id="4" name="TextBox 3">
            <a:extLst>
              <a:ext uri="{FF2B5EF4-FFF2-40B4-BE49-F238E27FC236}">
                <a16:creationId xmlns:a16="http://schemas.microsoft.com/office/drawing/2014/main" id="{F74F2D0C-8867-85C0-2FEE-74FCBA4F6D3D}"/>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Identifying VIP Customers</a:t>
            </a:r>
            <a:endParaRPr lang="en-US" sz="3200" b="1" kern="1200" cap="all" spc="600" baseline="0" dirty="0">
              <a:solidFill>
                <a:schemeClr val="bg1"/>
              </a:solidFill>
              <a:latin typeface="+mj-lt"/>
              <a:ea typeface="+mj-ea"/>
              <a:cs typeface="+mj-cs"/>
            </a:endParaRPr>
          </a:p>
        </p:txBody>
      </p:sp>
      <p:sp>
        <p:nvSpPr>
          <p:cNvPr id="12" name="TextBox 11">
            <a:extLst>
              <a:ext uri="{FF2B5EF4-FFF2-40B4-BE49-F238E27FC236}">
                <a16:creationId xmlns:a16="http://schemas.microsoft.com/office/drawing/2014/main" id="{8221C3DE-4ACB-6955-46B4-CBF2A2E69B3E}"/>
              </a:ext>
            </a:extLst>
          </p:cNvPr>
          <p:cNvSpPr txBox="1"/>
          <p:nvPr/>
        </p:nvSpPr>
        <p:spPr>
          <a:xfrm>
            <a:off x="1478106" y="3688772"/>
            <a:ext cx="8798503" cy="1685526"/>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It pinpoints the most valuable accounts. These customers should receive premium service, waived fees and exclusive offers to ensure retention.</a:t>
            </a:r>
          </a:p>
        </p:txBody>
      </p:sp>
    </p:spTree>
    <p:extLst>
      <p:ext uri="{BB962C8B-B14F-4D97-AF65-F5344CB8AC3E}">
        <p14:creationId xmlns:p14="http://schemas.microsoft.com/office/powerpoint/2010/main" val="552046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FD912-2272-70E6-253D-121106BE040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2095601-8FEF-B0FF-9149-2EE249710F7B}"/>
              </a:ext>
            </a:extLst>
          </p:cNvPr>
          <p:cNvPicPr>
            <a:picLocks noChangeAspect="1"/>
          </p:cNvPicPr>
          <p:nvPr/>
        </p:nvPicPr>
        <p:blipFill>
          <a:blip r:embed="rId2"/>
          <a:srcRect/>
          <a:stretch/>
        </p:blipFill>
        <p:spPr>
          <a:xfrm>
            <a:off x="2337062" y="924140"/>
            <a:ext cx="7080590" cy="2723304"/>
          </a:xfrm>
          <a:prstGeom prst="rect">
            <a:avLst/>
          </a:prstGeom>
        </p:spPr>
      </p:pic>
      <p:sp>
        <p:nvSpPr>
          <p:cNvPr id="12" name="TextBox 11">
            <a:extLst>
              <a:ext uri="{FF2B5EF4-FFF2-40B4-BE49-F238E27FC236}">
                <a16:creationId xmlns:a16="http://schemas.microsoft.com/office/drawing/2014/main" id="{2965EFCC-0E59-4DFA-6A67-F3283635910E}"/>
              </a:ext>
            </a:extLst>
          </p:cNvPr>
          <p:cNvSpPr txBox="1"/>
          <p:nvPr/>
        </p:nvSpPr>
        <p:spPr>
          <a:xfrm>
            <a:off x="1405368" y="3782291"/>
            <a:ext cx="9411568" cy="2793522"/>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It identifies the exact loans that make the bank the most money with the lowest risk of default. By isolating large-sum borrowers with low interest rates (prime clients), the bank can focus its retention and cross-selling strategies on those high-value, low-risk customers.</a:t>
            </a:r>
          </a:p>
        </p:txBody>
      </p:sp>
      <p:sp>
        <p:nvSpPr>
          <p:cNvPr id="2" name="TextBox 1">
            <a:extLst>
              <a:ext uri="{FF2B5EF4-FFF2-40B4-BE49-F238E27FC236}">
                <a16:creationId xmlns:a16="http://schemas.microsoft.com/office/drawing/2014/main" id="{2C46EEAF-32F5-9423-1E53-C62BB9F21ACC}"/>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High Value Low Risk Loan Analysis</a:t>
            </a:r>
            <a:endParaRPr lang="en-US" sz="3200" b="1" kern="1200" cap="all" spc="600" baseline="0" dirty="0">
              <a:solidFill>
                <a:schemeClr val="bg1"/>
              </a:solidFill>
              <a:latin typeface="+mj-lt"/>
              <a:ea typeface="+mj-ea"/>
              <a:cs typeface="+mj-cs"/>
            </a:endParaRPr>
          </a:p>
        </p:txBody>
      </p:sp>
    </p:spTree>
    <p:extLst>
      <p:ext uri="{BB962C8B-B14F-4D97-AF65-F5344CB8AC3E}">
        <p14:creationId xmlns:p14="http://schemas.microsoft.com/office/powerpoint/2010/main" val="3813980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0B726-97B3-F888-A41E-2F3D7D1BB87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C9857F0-3D0C-7554-B3F7-207E1EFA0E50}"/>
              </a:ext>
            </a:extLst>
          </p:cNvPr>
          <p:cNvPicPr>
            <a:picLocks noChangeAspect="1"/>
          </p:cNvPicPr>
          <p:nvPr/>
        </p:nvPicPr>
        <p:blipFill>
          <a:blip r:embed="rId2"/>
          <a:srcRect/>
          <a:stretch/>
        </p:blipFill>
        <p:spPr>
          <a:xfrm>
            <a:off x="2579862" y="970900"/>
            <a:ext cx="6801166" cy="2629785"/>
          </a:xfrm>
          <a:prstGeom prst="rect">
            <a:avLst/>
          </a:prstGeom>
        </p:spPr>
      </p:pic>
      <p:sp>
        <p:nvSpPr>
          <p:cNvPr id="4" name="TextBox 3">
            <a:extLst>
              <a:ext uri="{FF2B5EF4-FFF2-40B4-BE49-F238E27FC236}">
                <a16:creationId xmlns:a16="http://schemas.microsoft.com/office/drawing/2014/main" id="{1E060E34-9DFC-0F69-4868-68A91A33B3C9}"/>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ATM Cash Flow Management</a:t>
            </a:r>
            <a:endParaRPr lang="en-US" sz="3200" b="1" kern="1200" cap="all" spc="600" baseline="0" dirty="0">
              <a:solidFill>
                <a:schemeClr val="bg1"/>
              </a:solidFill>
              <a:latin typeface="+mj-lt"/>
              <a:ea typeface="+mj-ea"/>
              <a:cs typeface="+mj-cs"/>
            </a:endParaRPr>
          </a:p>
        </p:txBody>
      </p:sp>
      <p:sp>
        <p:nvSpPr>
          <p:cNvPr id="12" name="TextBox 11">
            <a:extLst>
              <a:ext uri="{FF2B5EF4-FFF2-40B4-BE49-F238E27FC236}">
                <a16:creationId xmlns:a16="http://schemas.microsoft.com/office/drawing/2014/main" id="{FBBCBF43-D6B1-F931-3A05-965DDAEB670B}"/>
              </a:ext>
            </a:extLst>
          </p:cNvPr>
          <p:cNvSpPr txBox="1"/>
          <p:nvPr/>
        </p:nvSpPr>
        <p:spPr>
          <a:xfrm>
            <a:off x="1457324" y="3688773"/>
            <a:ext cx="8798503" cy="2239524"/>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It shows peak usage per machine, allowing the operations team to optimize cash refilling schedules and perform maintenance on the high-traffic machines to avoid breakdowns </a:t>
            </a:r>
            <a:r>
              <a:rPr kumimoji="0" lang="en-US" sz="2400" b="1" i="0" u="none" strike="noStrike" kern="1200" cap="none" spc="0" normalizeH="0" baseline="0" noProof="0" dirty="0">
                <a:ln>
                  <a:noFill/>
                </a:ln>
                <a:solidFill>
                  <a:schemeClr val="accent2"/>
                </a:solidFill>
                <a:effectLst/>
                <a:uLnTx/>
                <a:uFillTx/>
                <a:latin typeface="Segoe UI Light" panose="020B0502040204020203" pitchFamily="34" charset="0"/>
                <a:ea typeface="+mn-ea"/>
                <a:cs typeface="Segoe UI Light" panose="020B0502040204020203" pitchFamily="34" charset="0"/>
              </a:rPr>
              <a:t>(like ATM 200 in Aswan)</a:t>
            </a:r>
            <a:r>
              <a:rPr kumimoji="0" lang="en-US" sz="2400" b="1" i="0" u="none" strike="noStrike" kern="1200" cap="none" spc="0" normalizeH="0" baseline="0" noProof="0" dirty="0">
                <a:ln>
                  <a:noFill/>
                </a:ln>
                <a:solidFill>
                  <a:schemeClr val="bg1"/>
                </a:solidFill>
                <a:effectLst/>
                <a:uLnTx/>
                <a:uFillTx/>
                <a:latin typeface="Segoe UI Light" panose="020B0502040204020203" pitchFamily="34" charset="0"/>
                <a:ea typeface="+mn-ea"/>
                <a:cs typeface="Segoe UI Light" panose="020B0502040204020203" pitchFamily="34" charset="0"/>
              </a:rPr>
              <a:t>.</a:t>
            </a:r>
          </a:p>
        </p:txBody>
      </p:sp>
    </p:spTree>
    <p:extLst>
      <p:ext uri="{BB962C8B-B14F-4D97-AF65-F5344CB8AC3E}">
        <p14:creationId xmlns:p14="http://schemas.microsoft.com/office/powerpoint/2010/main" val="4163430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5CC31-7A3A-E827-63B9-9F676F96AD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D9C8DAB-3EAB-BA61-17C8-04C2C0CBC383}"/>
              </a:ext>
            </a:extLst>
          </p:cNvPr>
          <p:cNvPicPr>
            <a:picLocks noChangeAspect="1"/>
          </p:cNvPicPr>
          <p:nvPr/>
        </p:nvPicPr>
        <p:blipFill>
          <a:blip r:embed="rId2"/>
          <a:srcRect/>
          <a:stretch/>
        </p:blipFill>
        <p:spPr>
          <a:xfrm>
            <a:off x="2875393" y="905281"/>
            <a:ext cx="6200359" cy="3140211"/>
          </a:xfrm>
          <a:prstGeom prst="rect">
            <a:avLst/>
          </a:prstGeom>
        </p:spPr>
      </p:pic>
      <p:sp>
        <p:nvSpPr>
          <p:cNvPr id="4" name="TextBox 3">
            <a:extLst>
              <a:ext uri="{FF2B5EF4-FFF2-40B4-BE49-F238E27FC236}">
                <a16:creationId xmlns:a16="http://schemas.microsoft.com/office/drawing/2014/main" id="{76728CDC-1B27-15FC-4952-A384450D14B0}"/>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High-Risk Exposure Alert</a:t>
            </a:r>
            <a:endParaRPr lang="en-US" sz="3200" b="1" kern="1200" cap="all" spc="600" baseline="0" dirty="0">
              <a:solidFill>
                <a:schemeClr val="bg1"/>
              </a:solidFill>
              <a:latin typeface="+mj-lt"/>
              <a:ea typeface="+mj-ea"/>
              <a:cs typeface="+mj-cs"/>
            </a:endParaRPr>
          </a:p>
        </p:txBody>
      </p:sp>
      <p:sp>
        <p:nvSpPr>
          <p:cNvPr id="12" name="TextBox 11">
            <a:extLst>
              <a:ext uri="{FF2B5EF4-FFF2-40B4-BE49-F238E27FC236}">
                <a16:creationId xmlns:a16="http://schemas.microsoft.com/office/drawing/2014/main" id="{4712F3BD-6415-3E2D-CC07-A664DE37FDF7}"/>
              </a:ext>
            </a:extLst>
          </p:cNvPr>
          <p:cNvSpPr txBox="1"/>
          <p:nvPr/>
        </p:nvSpPr>
        <p:spPr>
          <a:xfrm>
            <a:off x="1467715" y="4125190"/>
            <a:ext cx="9692121" cy="1685526"/>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These customers are highly leveraged (owing more than they have saved) signaling a high potential for loan default.       The team can proactively contact them to restructure their debt.</a:t>
            </a:r>
          </a:p>
        </p:txBody>
      </p:sp>
    </p:spTree>
    <p:extLst>
      <p:ext uri="{BB962C8B-B14F-4D97-AF65-F5344CB8AC3E}">
        <p14:creationId xmlns:p14="http://schemas.microsoft.com/office/powerpoint/2010/main" val="483671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BA3B3-D856-AC30-D94F-46DADC65C2E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1408DF4-6CBE-D485-4C0B-98E08C68B3CE}"/>
              </a:ext>
            </a:extLst>
          </p:cNvPr>
          <p:cNvPicPr>
            <a:picLocks noChangeAspect="1"/>
          </p:cNvPicPr>
          <p:nvPr/>
        </p:nvPicPr>
        <p:blipFill>
          <a:blip r:embed="rId2"/>
          <a:srcRect/>
          <a:stretch/>
        </p:blipFill>
        <p:spPr>
          <a:xfrm>
            <a:off x="2856010" y="978061"/>
            <a:ext cx="6479980" cy="2378203"/>
          </a:xfrm>
          <a:prstGeom prst="rect">
            <a:avLst/>
          </a:prstGeom>
        </p:spPr>
      </p:pic>
      <p:sp>
        <p:nvSpPr>
          <p:cNvPr id="12" name="TextBox 11">
            <a:extLst>
              <a:ext uri="{FF2B5EF4-FFF2-40B4-BE49-F238E27FC236}">
                <a16:creationId xmlns:a16="http://schemas.microsoft.com/office/drawing/2014/main" id="{BA87D3C8-F78F-2F31-58DF-3C75A5F154C1}"/>
              </a:ext>
            </a:extLst>
          </p:cNvPr>
          <p:cNvSpPr txBox="1"/>
          <p:nvPr/>
        </p:nvSpPr>
        <p:spPr>
          <a:xfrm>
            <a:off x="1478106" y="3501736"/>
            <a:ext cx="8798503" cy="1685526"/>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It reveals the senior experts in each department. HR can use this for succession planning and retention bonuses to prevent these vital employees from leaving.</a:t>
            </a:r>
          </a:p>
        </p:txBody>
      </p:sp>
      <p:sp>
        <p:nvSpPr>
          <p:cNvPr id="2" name="TextBox 1">
            <a:extLst>
              <a:ext uri="{FF2B5EF4-FFF2-40B4-BE49-F238E27FC236}">
                <a16:creationId xmlns:a16="http://schemas.microsoft.com/office/drawing/2014/main" id="{BA721439-2A9A-C744-FF6E-D7784792998C}"/>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Talent Identification</a:t>
            </a:r>
            <a:endParaRPr lang="en-US" sz="3200" b="1" kern="1200" cap="all" spc="600" baseline="0" dirty="0">
              <a:solidFill>
                <a:schemeClr val="bg1"/>
              </a:solidFill>
              <a:latin typeface="+mj-lt"/>
              <a:ea typeface="+mj-ea"/>
              <a:cs typeface="+mj-cs"/>
            </a:endParaRPr>
          </a:p>
        </p:txBody>
      </p:sp>
    </p:spTree>
    <p:extLst>
      <p:ext uri="{BB962C8B-B14F-4D97-AF65-F5344CB8AC3E}">
        <p14:creationId xmlns:p14="http://schemas.microsoft.com/office/powerpoint/2010/main" val="2992827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8A930-5FB0-3489-41CB-0BFB8C32244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3A80956-7478-BD19-22C8-7450498DC275}"/>
              </a:ext>
            </a:extLst>
          </p:cNvPr>
          <p:cNvPicPr>
            <a:picLocks noChangeAspect="1"/>
          </p:cNvPicPr>
          <p:nvPr/>
        </p:nvPicPr>
        <p:blipFill>
          <a:blip r:embed="rId2"/>
          <a:srcRect/>
          <a:stretch/>
        </p:blipFill>
        <p:spPr>
          <a:xfrm>
            <a:off x="2757607" y="947065"/>
            <a:ext cx="6255900" cy="2845617"/>
          </a:xfrm>
          <a:prstGeom prst="rect">
            <a:avLst/>
          </a:prstGeom>
        </p:spPr>
      </p:pic>
      <p:sp>
        <p:nvSpPr>
          <p:cNvPr id="4" name="TextBox 3">
            <a:extLst>
              <a:ext uri="{FF2B5EF4-FFF2-40B4-BE49-F238E27FC236}">
                <a16:creationId xmlns:a16="http://schemas.microsoft.com/office/drawing/2014/main" id="{219BEAF0-AF3F-3E45-2881-DF5E183D0491}"/>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Detecting Potential Fraud</a:t>
            </a:r>
            <a:endParaRPr lang="en-US" sz="3200" b="1" kern="1200" cap="all" spc="600" baseline="0" dirty="0">
              <a:solidFill>
                <a:schemeClr val="bg1"/>
              </a:solidFill>
              <a:latin typeface="+mj-lt"/>
              <a:ea typeface="+mj-ea"/>
              <a:cs typeface="+mj-cs"/>
            </a:endParaRPr>
          </a:p>
        </p:txBody>
      </p:sp>
      <p:sp>
        <p:nvSpPr>
          <p:cNvPr id="12" name="TextBox 11">
            <a:extLst>
              <a:ext uri="{FF2B5EF4-FFF2-40B4-BE49-F238E27FC236}">
                <a16:creationId xmlns:a16="http://schemas.microsoft.com/office/drawing/2014/main" id="{6C94312A-54FB-AD98-4AFE-5A7460F979AE}"/>
              </a:ext>
            </a:extLst>
          </p:cNvPr>
          <p:cNvSpPr txBox="1"/>
          <p:nvPr/>
        </p:nvSpPr>
        <p:spPr>
          <a:xfrm>
            <a:off x="1486305" y="3915867"/>
            <a:ext cx="9174768" cy="1685526"/>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A sudden 50% increase in transaction amount compared to the previous one is a classic red flag for stolen card usage, alerting the security team to freeze the account immediately.</a:t>
            </a:r>
          </a:p>
        </p:txBody>
      </p:sp>
    </p:spTree>
    <p:extLst>
      <p:ext uri="{BB962C8B-B14F-4D97-AF65-F5344CB8AC3E}">
        <p14:creationId xmlns:p14="http://schemas.microsoft.com/office/powerpoint/2010/main" val="463121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9901A-7B41-2259-4892-B12FBC81727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E41556-9FD5-8058-A8BD-B1550C5349E1}"/>
              </a:ext>
            </a:extLst>
          </p:cNvPr>
          <p:cNvPicPr>
            <a:picLocks noChangeAspect="1"/>
          </p:cNvPicPr>
          <p:nvPr/>
        </p:nvPicPr>
        <p:blipFill>
          <a:blip r:embed="rId2"/>
          <a:srcRect/>
          <a:stretch/>
        </p:blipFill>
        <p:spPr>
          <a:xfrm>
            <a:off x="2657954" y="933026"/>
            <a:ext cx="6591529" cy="2973956"/>
          </a:xfrm>
          <a:prstGeom prst="rect">
            <a:avLst/>
          </a:prstGeom>
        </p:spPr>
      </p:pic>
      <p:sp>
        <p:nvSpPr>
          <p:cNvPr id="12" name="TextBox 11">
            <a:extLst>
              <a:ext uri="{FF2B5EF4-FFF2-40B4-BE49-F238E27FC236}">
                <a16:creationId xmlns:a16="http://schemas.microsoft.com/office/drawing/2014/main" id="{B4669301-8B79-EA2C-A321-26644F335210}"/>
              </a:ext>
            </a:extLst>
          </p:cNvPr>
          <p:cNvSpPr txBox="1"/>
          <p:nvPr/>
        </p:nvSpPr>
        <p:spPr>
          <a:xfrm>
            <a:off x="1475155" y="3979718"/>
            <a:ext cx="9241689" cy="1692899"/>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ea typeface="+mn-ea"/>
                <a:cs typeface="Segoe UI Light" panose="020B0502040204020203" pitchFamily="34" charset="0"/>
              </a:rPr>
              <a:t>It compares a new hire's salary to the person hired right before them in the same department helping HR identify if they are overpaying new recruits or underpaying long-term staff.</a:t>
            </a:r>
          </a:p>
        </p:txBody>
      </p:sp>
      <p:sp>
        <p:nvSpPr>
          <p:cNvPr id="2" name="TextBox 1">
            <a:extLst>
              <a:ext uri="{FF2B5EF4-FFF2-40B4-BE49-F238E27FC236}">
                <a16:creationId xmlns:a16="http://schemas.microsoft.com/office/drawing/2014/main" id="{6E64A7C7-A9FF-F232-B838-0786A869B31E}"/>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Pay Equity Analysis</a:t>
            </a:r>
            <a:endParaRPr lang="en-US" sz="3200" b="1" kern="1200" cap="all" spc="600" baseline="0" dirty="0">
              <a:solidFill>
                <a:schemeClr val="bg1"/>
              </a:solidFill>
              <a:latin typeface="+mj-lt"/>
              <a:ea typeface="+mj-ea"/>
              <a:cs typeface="+mj-cs"/>
            </a:endParaRPr>
          </a:p>
        </p:txBody>
      </p:sp>
    </p:spTree>
    <p:extLst>
      <p:ext uri="{BB962C8B-B14F-4D97-AF65-F5344CB8AC3E}">
        <p14:creationId xmlns:p14="http://schemas.microsoft.com/office/powerpoint/2010/main" val="1975538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0DD52-0D26-4454-502B-39E0C23E411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A98E9A3-75F1-E304-2E3A-530D69EFD356}"/>
              </a:ext>
            </a:extLst>
          </p:cNvPr>
          <p:cNvPicPr>
            <a:picLocks noChangeAspect="1"/>
          </p:cNvPicPr>
          <p:nvPr/>
        </p:nvPicPr>
        <p:blipFill>
          <a:blip r:embed="rId2"/>
          <a:srcRect/>
          <a:stretch/>
        </p:blipFill>
        <p:spPr>
          <a:xfrm>
            <a:off x="3678795" y="989499"/>
            <a:ext cx="4438688" cy="3201285"/>
          </a:xfrm>
          <a:prstGeom prst="rect">
            <a:avLst/>
          </a:prstGeom>
        </p:spPr>
      </p:pic>
      <p:sp>
        <p:nvSpPr>
          <p:cNvPr id="4" name="TextBox 3">
            <a:extLst>
              <a:ext uri="{FF2B5EF4-FFF2-40B4-BE49-F238E27FC236}">
                <a16:creationId xmlns:a16="http://schemas.microsoft.com/office/drawing/2014/main" id="{73A58901-11F8-FFA0-B759-846C89BD5427}"/>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High-Net-Worth Segmentation</a:t>
            </a:r>
            <a:endParaRPr lang="en-US" sz="3200" b="1" kern="1200" cap="all" spc="600" baseline="0" dirty="0">
              <a:solidFill>
                <a:schemeClr val="bg1"/>
              </a:solidFill>
              <a:latin typeface="+mj-lt"/>
              <a:ea typeface="+mj-ea"/>
              <a:cs typeface="+mj-cs"/>
            </a:endParaRPr>
          </a:p>
        </p:txBody>
      </p:sp>
      <p:sp>
        <p:nvSpPr>
          <p:cNvPr id="12" name="TextBox 11">
            <a:extLst>
              <a:ext uri="{FF2B5EF4-FFF2-40B4-BE49-F238E27FC236}">
                <a16:creationId xmlns:a16="http://schemas.microsoft.com/office/drawing/2014/main" id="{B5C0058B-EE24-7738-F282-B9BCCE96EFC9}"/>
              </a:ext>
            </a:extLst>
          </p:cNvPr>
          <p:cNvSpPr txBox="1"/>
          <p:nvPr/>
        </p:nvSpPr>
        <p:spPr>
          <a:xfrm>
            <a:off x="1415760" y="4178030"/>
            <a:ext cx="9702513" cy="1685526"/>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It creates a clear hierarchy of customer wealth, allowing the bank to exclusively target the Top 25% tier with premium wealth management, investment advisory and luxury card products.</a:t>
            </a:r>
          </a:p>
        </p:txBody>
      </p:sp>
    </p:spTree>
    <p:extLst>
      <p:ext uri="{BB962C8B-B14F-4D97-AF65-F5344CB8AC3E}">
        <p14:creationId xmlns:p14="http://schemas.microsoft.com/office/powerpoint/2010/main" val="3275373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DC342-F250-89FC-3FC8-DF12BBD3FF3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AFBE26F-205D-FADB-C08D-5CFE4F9AAFF5}"/>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Compensation Structure Red Flag</a:t>
            </a:r>
            <a:endParaRPr lang="en-US" sz="3200" b="1" kern="1200" cap="all" spc="600" baseline="0" dirty="0">
              <a:solidFill>
                <a:schemeClr val="bg1"/>
              </a:solidFill>
              <a:latin typeface="+mj-lt"/>
              <a:ea typeface="+mj-ea"/>
              <a:cs typeface="+mj-cs"/>
            </a:endParaRPr>
          </a:p>
        </p:txBody>
      </p:sp>
      <p:sp>
        <p:nvSpPr>
          <p:cNvPr id="12" name="TextBox 11">
            <a:extLst>
              <a:ext uri="{FF2B5EF4-FFF2-40B4-BE49-F238E27FC236}">
                <a16:creationId xmlns:a16="http://schemas.microsoft.com/office/drawing/2014/main" id="{85EAF9CE-05C5-3C36-24E2-53EBB4CAD2FD}"/>
              </a:ext>
            </a:extLst>
          </p:cNvPr>
          <p:cNvSpPr txBox="1"/>
          <p:nvPr/>
        </p:nvSpPr>
        <p:spPr>
          <a:xfrm>
            <a:off x="1478106" y="3906982"/>
            <a:ext cx="8798503" cy="1685526"/>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A Clerk or Analyst earning more than their Manager indicates a broken pay structure, demotivating senior staff and requiring immediate HR correction.</a:t>
            </a:r>
          </a:p>
        </p:txBody>
      </p:sp>
      <p:pic>
        <p:nvPicPr>
          <p:cNvPr id="5" name="Picture 4" descr="A screenshot of a computer code&#10;&#10;AI-generated content may be incorrect.">
            <a:extLst>
              <a:ext uri="{FF2B5EF4-FFF2-40B4-BE49-F238E27FC236}">
                <a16:creationId xmlns:a16="http://schemas.microsoft.com/office/drawing/2014/main" id="{D5B9A2A7-C38A-A972-26EC-DE510735D06A}"/>
              </a:ext>
            </a:extLst>
          </p:cNvPr>
          <p:cNvPicPr>
            <a:picLocks noChangeAspect="1"/>
          </p:cNvPicPr>
          <p:nvPr/>
        </p:nvPicPr>
        <p:blipFill>
          <a:blip r:embed="rId2"/>
          <a:stretch>
            <a:fillRect/>
          </a:stretch>
        </p:blipFill>
        <p:spPr>
          <a:xfrm>
            <a:off x="620414" y="954931"/>
            <a:ext cx="5675772" cy="2754623"/>
          </a:xfrm>
          <a:prstGeom prst="rect">
            <a:avLst/>
          </a:prstGeom>
        </p:spPr>
      </p:pic>
      <p:pic>
        <p:nvPicPr>
          <p:cNvPr id="7" name="Picture 6" descr="A white background with black text&#10;&#10;AI-generated content may be incorrect.">
            <a:extLst>
              <a:ext uri="{FF2B5EF4-FFF2-40B4-BE49-F238E27FC236}">
                <a16:creationId xmlns:a16="http://schemas.microsoft.com/office/drawing/2014/main" id="{1C3BF434-27BF-4D4E-87F1-158F7CB97A64}"/>
              </a:ext>
            </a:extLst>
          </p:cNvPr>
          <p:cNvPicPr>
            <a:picLocks noChangeAspect="1"/>
          </p:cNvPicPr>
          <p:nvPr/>
        </p:nvPicPr>
        <p:blipFill>
          <a:blip r:embed="rId3"/>
          <a:stretch>
            <a:fillRect/>
          </a:stretch>
        </p:blipFill>
        <p:spPr>
          <a:xfrm>
            <a:off x="6431268" y="954931"/>
            <a:ext cx="5418290" cy="1615580"/>
          </a:xfrm>
          <a:prstGeom prst="rect">
            <a:avLst/>
          </a:prstGeom>
        </p:spPr>
      </p:pic>
    </p:spTree>
    <p:extLst>
      <p:ext uri="{BB962C8B-B14F-4D97-AF65-F5344CB8AC3E}">
        <p14:creationId xmlns:p14="http://schemas.microsoft.com/office/powerpoint/2010/main" val="1367686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23B74-C532-BD33-C459-FC70CD1CFE3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1FEA69C-7A6E-B5F0-7B1E-489E6C5D2272}"/>
              </a:ext>
            </a:extLst>
          </p:cNvPr>
          <p:cNvPicPr>
            <a:picLocks noChangeAspect="1"/>
          </p:cNvPicPr>
          <p:nvPr/>
        </p:nvPicPr>
        <p:blipFill>
          <a:blip r:embed="rId2"/>
          <a:srcRect/>
          <a:stretch/>
        </p:blipFill>
        <p:spPr>
          <a:xfrm>
            <a:off x="2342334" y="1048596"/>
            <a:ext cx="7070041" cy="2681740"/>
          </a:xfrm>
          <a:prstGeom prst="rect">
            <a:avLst/>
          </a:prstGeom>
        </p:spPr>
      </p:pic>
      <p:sp>
        <p:nvSpPr>
          <p:cNvPr id="4" name="TextBox 3">
            <a:extLst>
              <a:ext uri="{FF2B5EF4-FFF2-40B4-BE49-F238E27FC236}">
                <a16:creationId xmlns:a16="http://schemas.microsoft.com/office/drawing/2014/main" id="{8B7CE462-C14C-349E-E48D-A37E4D8CA7E6}"/>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Cross-Selling Upsell</a:t>
            </a:r>
            <a:endParaRPr lang="en-US" sz="3200" b="1" kern="1200" cap="all" spc="600" baseline="0" dirty="0">
              <a:solidFill>
                <a:schemeClr val="bg1"/>
              </a:solidFill>
              <a:latin typeface="+mj-lt"/>
              <a:ea typeface="+mj-ea"/>
              <a:cs typeface="+mj-cs"/>
            </a:endParaRPr>
          </a:p>
        </p:txBody>
      </p:sp>
      <p:sp>
        <p:nvSpPr>
          <p:cNvPr id="12" name="TextBox 11">
            <a:extLst>
              <a:ext uri="{FF2B5EF4-FFF2-40B4-BE49-F238E27FC236}">
                <a16:creationId xmlns:a16="http://schemas.microsoft.com/office/drawing/2014/main" id="{DD4282F6-9B0C-41AE-B715-895977FD265A}"/>
              </a:ext>
            </a:extLst>
          </p:cNvPr>
          <p:cNvSpPr txBox="1"/>
          <p:nvPr/>
        </p:nvSpPr>
        <p:spPr>
          <a:xfrm>
            <a:off x="1394975" y="3969327"/>
            <a:ext cx="9172580" cy="1131528"/>
          </a:xfrm>
          <a:prstGeom prst="rect">
            <a:avLst/>
          </a:prstGeom>
          <a:noFill/>
        </p:spPr>
        <p:txBody>
          <a:bodyPr wrap="square">
            <a:spAutoFit/>
          </a:bodyPr>
          <a:lstStyle/>
          <a:p>
            <a:pPr marL="342900" marR="0" lvl="0" indent="-342900" algn="l" defTabSz="914400" rtl="0" eaLnBrk="1" fontAlgn="auto" latinLnBrk="0" hangingPunct="1">
              <a:lnSpc>
                <a:spcPct val="150000"/>
              </a:lnSpc>
              <a:spcBef>
                <a:spcPts val="1000"/>
              </a:spcBef>
              <a:spcAft>
                <a:spcPts val="0"/>
              </a:spcAft>
              <a:buClr>
                <a:schemeClr val="accent3"/>
              </a:buClr>
              <a:buSzTx/>
              <a:buFont typeface="Courier New" panose="02070309020205020404" pitchFamily="49" charset="0"/>
              <a:buChar char="o"/>
              <a:tabLst/>
              <a:defRPr/>
            </a:pPr>
            <a:r>
              <a:rPr kumimoji="0" lang="en-US" sz="2400" b="1" i="0" u="none" strike="noStrike" kern="1200" cap="none" spc="0" normalizeH="0" baseline="0" noProof="0" dirty="0">
                <a:ln>
                  <a:noFill/>
                </a:ln>
                <a:solidFill>
                  <a:srgbClr val="FFFFFF"/>
                </a:solidFill>
                <a:effectLst/>
                <a:uLnTx/>
                <a:uFillTx/>
                <a:latin typeface="+mj-lt"/>
                <a:ea typeface="+mn-ea"/>
                <a:cs typeface="Segoe UI Light" panose="020B0502040204020203" pitchFamily="34" charset="0"/>
              </a:rPr>
              <a:t>Business Value :  </a:t>
            </a:r>
            <a:r>
              <a:rPr lang="en-US" sz="2400" b="1" dirty="0">
                <a:solidFill>
                  <a:srgbClr val="FFFFFF"/>
                </a:solidFill>
                <a:latin typeface="Segoe UI Light" panose="020B0502040204020203" pitchFamily="34" charset="0"/>
                <a:cs typeface="Segoe UI Light" panose="020B0502040204020203" pitchFamily="34" charset="0"/>
              </a:rPr>
              <a:t>It identifies the wealth profile of different customer segments to uncover a big Cross-Selling opportunity.</a:t>
            </a:r>
            <a:endParaRPr kumimoji="0" lang="en-US" sz="24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endParaRPr>
          </a:p>
        </p:txBody>
      </p:sp>
    </p:spTree>
    <p:extLst>
      <p:ext uri="{BB962C8B-B14F-4D97-AF65-F5344CB8AC3E}">
        <p14:creationId xmlns:p14="http://schemas.microsoft.com/office/powerpoint/2010/main" val="2719727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20B794-6270-D21E-AF05-9D0E51C9F471}"/>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Business Questions &amp; Answers</a:t>
            </a:r>
            <a:endParaRPr lang="en-US" sz="3200" b="1" kern="1200" cap="all" spc="600" baseline="0" dirty="0">
              <a:solidFill>
                <a:schemeClr val="bg1"/>
              </a:solidFill>
              <a:latin typeface="+mj-lt"/>
              <a:ea typeface="+mj-ea"/>
              <a:cs typeface="+mj-cs"/>
            </a:endParaRPr>
          </a:p>
        </p:txBody>
      </p:sp>
      <p:sp>
        <p:nvSpPr>
          <p:cNvPr id="5" name="Content Placeholder 2">
            <a:extLst>
              <a:ext uri="{FF2B5EF4-FFF2-40B4-BE49-F238E27FC236}">
                <a16:creationId xmlns:a16="http://schemas.microsoft.com/office/drawing/2014/main" id="{186C11BE-F066-6863-589D-A2BECE0D5109}"/>
              </a:ext>
            </a:extLst>
          </p:cNvPr>
          <p:cNvSpPr txBox="1">
            <a:spLocks/>
          </p:cNvSpPr>
          <p:nvPr/>
        </p:nvSpPr>
        <p:spPr>
          <a:xfrm>
            <a:off x="819219" y="680397"/>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marL="228600" indent="-347472" algn="l">
              <a:lnSpc>
                <a:spcPct val="90000"/>
              </a:lnSpc>
              <a:buFont typeface="Courier New" panose="02070309020205020404" pitchFamily="49" charset="0"/>
              <a:buChar char="o"/>
            </a:pPr>
            <a:r>
              <a:rPr lang="en-US" sz="2400" b="1" dirty="0"/>
              <a:t>What are the top-performing entities? </a:t>
            </a:r>
          </a:p>
        </p:txBody>
      </p:sp>
      <p:sp>
        <p:nvSpPr>
          <p:cNvPr id="6" name="Content Placeholder 2">
            <a:extLst>
              <a:ext uri="{FF2B5EF4-FFF2-40B4-BE49-F238E27FC236}">
                <a16:creationId xmlns:a16="http://schemas.microsoft.com/office/drawing/2014/main" id="{E599065E-1551-ADCE-391E-34777A651CC9}"/>
              </a:ext>
            </a:extLst>
          </p:cNvPr>
          <p:cNvSpPr txBox="1">
            <a:spLocks/>
          </p:cNvSpPr>
          <p:nvPr/>
        </p:nvSpPr>
        <p:spPr>
          <a:xfrm>
            <a:off x="819219" y="1360794"/>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algn="l">
              <a:lnSpc>
                <a:spcPct val="90000"/>
              </a:lnSpc>
            </a:pPr>
            <a:r>
              <a:rPr lang="en-US" sz="2400" b="1" dirty="0">
                <a:latin typeface="+mj-lt"/>
              </a:rPr>
              <a:t>SQL ANSWER : </a:t>
            </a:r>
            <a:r>
              <a:rPr lang="en-US" sz="2400" b="1" dirty="0"/>
              <a:t>(Q4), (Q5), (Q9), (Q12)  </a:t>
            </a:r>
          </a:p>
        </p:txBody>
      </p:sp>
      <p:sp>
        <p:nvSpPr>
          <p:cNvPr id="7" name="Content Placeholder 2">
            <a:extLst>
              <a:ext uri="{FF2B5EF4-FFF2-40B4-BE49-F238E27FC236}">
                <a16:creationId xmlns:a16="http://schemas.microsoft.com/office/drawing/2014/main" id="{210049B3-9531-26A5-0E33-F948CCA41BBC}"/>
              </a:ext>
            </a:extLst>
          </p:cNvPr>
          <p:cNvSpPr txBox="1">
            <a:spLocks/>
          </p:cNvSpPr>
          <p:nvPr/>
        </p:nvSpPr>
        <p:spPr>
          <a:xfrm>
            <a:off x="819219" y="3208531"/>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algn="l">
              <a:lnSpc>
                <a:spcPct val="90000"/>
              </a:lnSpc>
            </a:pPr>
            <a:r>
              <a:rPr lang="en-US" sz="2400" b="1" dirty="0">
                <a:latin typeface="+mj-lt"/>
              </a:rPr>
              <a:t>DASHBOARD VISUAL(S) ANSWER : </a:t>
            </a:r>
            <a:endParaRPr lang="en-US" sz="2400" b="1" dirty="0"/>
          </a:p>
        </p:txBody>
      </p:sp>
      <p:pic>
        <p:nvPicPr>
          <p:cNvPr id="11" name="Picture 10" descr="A screenshot of a number of numbers&#10;&#10;AI-generated content may be incorrect.">
            <a:extLst>
              <a:ext uri="{FF2B5EF4-FFF2-40B4-BE49-F238E27FC236}">
                <a16:creationId xmlns:a16="http://schemas.microsoft.com/office/drawing/2014/main" id="{6B0CA25F-27D1-38CF-304A-8384BABD027B}"/>
              </a:ext>
            </a:extLst>
          </p:cNvPr>
          <p:cNvPicPr>
            <a:picLocks noChangeAspect="1"/>
          </p:cNvPicPr>
          <p:nvPr/>
        </p:nvPicPr>
        <p:blipFill>
          <a:blip r:embed="rId2"/>
          <a:stretch>
            <a:fillRect/>
          </a:stretch>
        </p:blipFill>
        <p:spPr>
          <a:xfrm>
            <a:off x="288935" y="4278380"/>
            <a:ext cx="3566092" cy="2437652"/>
          </a:xfrm>
          <a:prstGeom prst="rect">
            <a:avLst/>
          </a:prstGeom>
        </p:spPr>
      </p:pic>
      <p:pic>
        <p:nvPicPr>
          <p:cNvPr id="13" name="Picture 12">
            <a:extLst>
              <a:ext uri="{FF2B5EF4-FFF2-40B4-BE49-F238E27FC236}">
                <a16:creationId xmlns:a16="http://schemas.microsoft.com/office/drawing/2014/main" id="{7A63AD79-6F7F-2A6B-E553-E9426F498A9F}"/>
              </a:ext>
            </a:extLst>
          </p:cNvPr>
          <p:cNvPicPr>
            <a:picLocks noChangeAspect="1"/>
          </p:cNvPicPr>
          <p:nvPr/>
        </p:nvPicPr>
        <p:blipFill>
          <a:blip r:embed="rId3"/>
          <a:srcRect/>
          <a:stretch/>
        </p:blipFill>
        <p:spPr>
          <a:xfrm>
            <a:off x="3953149" y="4278380"/>
            <a:ext cx="4110198" cy="2437651"/>
          </a:xfrm>
          <a:prstGeom prst="rect">
            <a:avLst/>
          </a:prstGeom>
        </p:spPr>
      </p:pic>
      <p:pic>
        <p:nvPicPr>
          <p:cNvPr id="15" name="Picture 14">
            <a:extLst>
              <a:ext uri="{FF2B5EF4-FFF2-40B4-BE49-F238E27FC236}">
                <a16:creationId xmlns:a16="http://schemas.microsoft.com/office/drawing/2014/main" id="{A2B02B09-BCE9-43E7-2780-6F79EE7501A8}"/>
              </a:ext>
            </a:extLst>
          </p:cNvPr>
          <p:cNvPicPr>
            <a:picLocks noChangeAspect="1"/>
          </p:cNvPicPr>
          <p:nvPr/>
        </p:nvPicPr>
        <p:blipFill>
          <a:blip r:embed="rId4"/>
          <a:stretch>
            <a:fillRect/>
          </a:stretch>
        </p:blipFill>
        <p:spPr>
          <a:xfrm>
            <a:off x="8161469" y="4278381"/>
            <a:ext cx="3893825" cy="2437650"/>
          </a:xfrm>
          <a:prstGeom prst="rect">
            <a:avLst/>
          </a:prstGeom>
        </p:spPr>
      </p:pic>
    </p:spTree>
    <p:extLst>
      <p:ext uri="{BB962C8B-B14F-4D97-AF65-F5344CB8AC3E}">
        <p14:creationId xmlns:p14="http://schemas.microsoft.com/office/powerpoint/2010/main" val="548476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FC9E3-09DD-4150-8605-200A50DF8E0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D3AF77-7343-6A00-FAC0-FBE0A0F758F0}"/>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Business Questions &amp; Answers</a:t>
            </a:r>
            <a:endParaRPr lang="en-US" sz="3200" b="1" kern="1200" cap="all" spc="600" baseline="0" dirty="0">
              <a:solidFill>
                <a:schemeClr val="bg1"/>
              </a:solidFill>
              <a:latin typeface="+mj-lt"/>
              <a:ea typeface="+mj-ea"/>
              <a:cs typeface="+mj-cs"/>
            </a:endParaRPr>
          </a:p>
        </p:txBody>
      </p:sp>
      <p:sp>
        <p:nvSpPr>
          <p:cNvPr id="5" name="Content Placeholder 2">
            <a:extLst>
              <a:ext uri="{FF2B5EF4-FFF2-40B4-BE49-F238E27FC236}">
                <a16:creationId xmlns:a16="http://schemas.microsoft.com/office/drawing/2014/main" id="{52172A21-424F-91CE-A1D1-FD0F4DFFB9A8}"/>
              </a:ext>
            </a:extLst>
          </p:cNvPr>
          <p:cNvSpPr txBox="1">
            <a:spLocks/>
          </p:cNvSpPr>
          <p:nvPr/>
        </p:nvSpPr>
        <p:spPr>
          <a:xfrm>
            <a:off x="819219" y="680397"/>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marL="228600" indent="-347472" algn="l">
              <a:lnSpc>
                <a:spcPct val="90000"/>
              </a:lnSpc>
              <a:buFont typeface="Courier New" panose="02070309020205020404" pitchFamily="49" charset="0"/>
              <a:buChar char="o"/>
            </a:pPr>
            <a:r>
              <a:rPr lang="en-US" sz="2400" b="1" dirty="0"/>
              <a:t>How does performance change over time? </a:t>
            </a:r>
          </a:p>
        </p:txBody>
      </p:sp>
      <p:sp>
        <p:nvSpPr>
          <p:cNvPr id="6" name="Content Placeholder 2">
            <a:extLst>
              <a:ext uri="{FF2B5EF4-FFF2-40B4-BE49-F238E27FC236}">
                <a16:creationId xmlns:a16="http://schemas.microsoft.com/office/drawing/2014/main" id="{BB107E35-4EF8-E1E9-145A-0CF8FB834E50}"/>
              </a:ext>
            </a:extLst>
          </p:cNvPr>
          <p:cNvSpPr txBox="1">
            <a:spLocks/>
          </p:cNvSpPr>
          <p:nvPr/>
        </p:nvSpPr>
        <p:spPr>
          <a:xfrm>
            <a:off x="819219" y="1360794"/>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algn="l">
              <a:lnSpc>
                <a:spcPct val="90000"/>
              </a:lnSpc>
            </a:pPr>
            <a:r>
              <a:rPr lang="en-US" sz="2400" b="1" dirty="0">
                <a:latin typeface="+mj-lt"/>
              </a:rPr>
              <a:t>SQL ANSWER : </a:t>
            </a:r>
            <a:r>
              <a:rPr lang="en-US" sz="2400" b="1" dirty="0"/>
              <a:t>(Q5), (Q7)  </a:t>
            </a:r>
          </a:p>
        </p:txBody>
      </p:sp>
      <p:sp>
        <p:nvSpPr>
          <p:cNvPr id="3" name="Content Placeholder 2">
            <a:extLst>
              <a:ext uri="{FF2B5EF4-FFF2-40B4-BE49-F238E27FC236}">
                <a16:creationId xmlns:a16="http://schemas.microsoft.com/office/drawing/2014/main" id="{31D706E3-A27F-B46A-98FA-B148FCECBEA4}"/>
              </a:ext>
            </a:extLst>
          </p:cNvPr>
          <p:cNvSpPr txBox="1">
            <a:spLocks/>
          </p:cNvSpPr>
          <p:nvPr/>
        </p:nvSpPr>
        <p:spPr>
          <a:xfrm>
            <a:off x="819219" y="3104622"/>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algn="l">
              <a:lnSpc>
                <a:spcPct val="90000"/>
              </a:lnSpc>
            </a:pPr>
            <a:r>
              <a:rPr lang="en-US" sz="2400" b="1" dirty="0">
                <a:latin typeface="+mj-lt"/>
              </a:rPr>
              <a:t>DASHBOARD VISUAL(S) ANSWER : </a:t>
            </a:r>
            <a:endParaRPr lang="en-US" sz="2400" b="1" dirty="0"/>
          </a:p>
        </p:txBody>
      </p:sp>
      <p:pic>
        <p:nvPicPr>
          <p:cNvPr id="8" name="Picture 7">
            <a:extLst>
              <a:ext uri="{FF2B5EF4-FFF2-40B4-BE49-F238E27FC236}">
                <a16:creationId xmlns:a16="http://schemas.microsoft.com/office/drawing/2014/main" id="{9D3F9FFE-23EA-CDC6-0384-FC0E7169B3D7}"/>
              </a:ext>
            </a:extLst>
          </p:cNvPr>
          <p:cNvPicPr>
            <a:picLocks noChangeAspect="1"/>
          </p:cNvPicPr>
          <p:nvPr/>
        </p:nvPicPr>
        <p:blipFill>
          <a:blip r:embed="rId2"/>
          <a:stretch>
            <a:fillRect/>
          </a:stretch>
        </p:blipFill>
        <p:spPr>
          <a:xfrm>
            <a:off x="819219" y="4081219"/>
            <a:ext cx="4923489" cy="2776781"/>
          </a:xfrm>
          <a:prstGeom prst="rect">
            <a:avLst/>
          </a:prstGeom>
        </p:spPr>
      </p:pic>
      <p:pic>
        <p:nvPicPr>
          <p:cNvPr id="10" name="Picture 9">
            <a:extLst>
              <a:ext uri="{FF2B5EF4-FFF2-40B4-BE49-F238E27FC236}">
                <a16:creationId xmlns:a16="http://schemas.microsoft.com/office/drawing/2014/main" id="{45281CB6-F755-3FF6-0288-0AEDF17BF469}"/>
              </a:ext>
            </a:extLst>
          </p:cNvPr>
          <p:cNvPicPr>
            <a:picLocks noChangeAspect="1"/>
          </p:cNvPicPr>
          <p:nvPr/>
        </p:nvPicPr>
        <p:blipFill>
          <a:blip r:embed="rId3"/>
          <a:stretch>
            <a:fillRect/>
          </a:stretch>
        </p:blipFill>
        <p:spPr>
          <a:xfrm>
            <a:off x="6002481" y="3903503"/>
            <a:ext cx="5511796" cy="2954497"/>
          </a:xfrm>
          <a:prstGeom prst="rect">
            <a:avLst/>
          </a:prstGeom>
        </p:spPr>
      </p:pic>
    </p:spTree>
    <p:extLst>
      <p:ext uri="{BB962C8B-B14F-4D97-AF65-F5344CB8AC3E}">
        <p14:creationId xmlns:p14="http://schemas.microsoft.com/office/powerpoint/2010/main" val="817140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8F144-F441-14E8-42B0-2D287982A7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8E3E1E-FCC8-9BBD-90A3-7CBCC1F2F075}"/>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Business Questions &amp; Answers</a:t>
            </a:r>
            <a:endParaRPr lang="en-US" sz="3200" b="1" kern="1200" cap="all" spc="600" baseline="0" dirty="0">
              <a:solidFill>
                <a:schemeClr val="bg1"/>
              </a:solidFill>
              <a:latin typeface="+mj-lt"/>
              <a:ea typeface="+mj-ea"/>
              <a:cs typeface="+mj-cs"/>
            </a:endParaRPr>
          </a:p>
        </p:txBody>
      </p:sp>
      <p:sp>
        <p:nvSpPr>
          <p:cNvPr id="5" name="Content Placeholder 2">
            <a:extLst>
              <a:ext uri="{FF2B5EF4-FFF2-40B4-BE49-F238E27FC236}">
                <a16:creationId xmlns:a16="http://schemas.microsoft.com/office/drawing/2014/main" id="{C65C5C2C-8C2C-5986-1FAF-63B440CA4CEC}"/>
              </a:ext>
            </a:extLst>
          </p:cNvPr>
          <p:cNvSpPr txBox="1">
            <a:spLocks/>
          </p:cNvSpPr>
          <p:nvPr/>
        </p:nvSpPr>
        <p:spPr>
          <a:xfrm>
            <a:off x="819219" y="680397"/>
            <a:ext cx="8283217" cy="1069849"/>
          </a:xfrm>
          <a:prstGeom prst="rect">
            <a:avLst/>
          </a:prstGeom>
        </p:spPr>
        <p:txBody>
          <a:bodyPr vert="horz" lIns="91440" tIns="45720" rIns="91440" bIns="45720" rtlCol="0">
            <a:normAutofit fontScale="92500"/>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marL="228600" indent="-347472" algn="l">
              <a:lnSpc>
                <a:spcPct val="90000"/>
              </a:lnSpc>
              <a:buFont typeface="Courier New" panose="02070309020205020404" pitchFamily="49" charset="0"/>
              <a:buChar char="o"/>
            </a:pPr>
            <a:r>
              <a:rPr lang="en-US" sz="2400" b="1" dirty="0"/>
              <a:t>Which categories/locations/customers generate the highest value?</a:t>
            </a:r>
          </a:p>
        </p:txBody>
      </p:sp>
      <p:sp>
        <p:nvSpPr>
          <p:cNvPr id="6" name="Content Placeholder 2">
            <a:extLst>
              <a:ext uri="{FF2B5EF4-FFF2-40B4-BE49-F238E27FC236}">
                <a16:creationId xmlns:a16="http://schemas.microsoft.com/office/drawing/2014/main" id="{E7B46551-1EB0-ED80-DDD1-114FD6398C27}"/>
              </a:ext>
            </a:extLst>
          </p:cNvPr>
          <p:cNvSpPr txBox="1">
            <a:spLocks/>
          </p:cNvSpPr>
          <p:nvPr/>
        </p:nvSpPr>
        <p:spPr>
          <a:xfrm>
            <a:off x="819219" y="1360794"/>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algn="l">
              <a:lnSpc>
                <a:spcPct val="90000"/>
              </a:lnSpc>
            </a:pPr>
            <a:r>
              <a:rPr lang="en-US" sz="2400" b="1" dirty="0">
                <a:latin typeface="+mj-lt"/>
              </a:rPr>
              <a:t>SQL ANSWER : </a:t>
            </a:r>
            <a:r>
              <a:rPr lang="en-US" sz="2400" b="1" dirty="0"/>
              <a:t>(Q1), (Q4), (Q7), (Q14)   </a:t>
            </a:r>
          </a:p>
        </p:txBody>
      </p:sp>
      <p:sp>
        <p:nvSpPr>
          <p:cNvPr id="3" name="Content Placeholder 2">
            <a:extLst>
              <a:ext uri="{FF2B5EF4-FFF2-40B4-BE49-F238E27FC236}">
                <a16:creationId xmlns:a16="http://schemas.microsoft.com/office/drawing/2014/main" id="{5E74E286-5FA4-4244-4118-A7A71BDA724A}"/>
              </a:ext>
            </a:extLst>
          </p:cNvPr>
          <p:cNvSpPr txBox="1">
            <a:spLocks/>
          </p:cNvSpPr>
          <p:nvPr/>
        </p:nvSpPr>
        <p:spPr>
          <a:xfrm>
            <a:off x="819219" y="3021026"/>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algn="l">
              <a:lnSpc>
                <a:spcPct val="90000"/>
              </a:lnSpc>
            </a:pPr>
            <a:r>
              <a:rPr lang="en-US" sz="2400" b="1" dirty="0">
                <a:latin typeface="+mj-lt"/>
              </a:rPr>
              <a:t>DASHBOARD VISUAL(S) ANSWER : </a:t>
            </a:r>
            <a:endParaRPr lang="en-US" sz="2400" b="1" dirty="0"/>
          </a:p>
        </p:txBody>
      </p:sp>
      <p:pic>
        <p:nvPicPr>
          <p:cNvPr id="10" name="Picture 9">
            <a:extLst>
              <a:ext uri="{FF2B5EF4-FFF2-40B4-BE49-F238E27FC236}">
                <a16:creationId xmlns:a16="http://schemas.microsoft.com/office/drawing/2014/main" id="{691C8361-9AF5-9B36-036F-1A24502FA8E5}"/>
              </a:ext>
            </a:extLst>
          </p:cNvPr>
          <p:cNvPicPr>
            <a:picLocks noChangeAspect="1"/>
          </p:cNvPicPr>
          <p:nvPr/>
        </p:nvPicPr>
        <p:blipFill>
          <a:blip r:embed="rId2"/>
          <a:stretch>
            <a:fillRect/>
          </a:stretch>
        </p:blipFill>
        <p:spPr>
          <a:xfrm>
            <a:off x="134085" y="4090875"/>
            <a:ext cx="3937159" cy="2591547"/>
          </a:xfrm>
          <a:prstGeom prst="rect">
            <a:avLst/>
          </a:prstGeom>
        </p:spPr>
      </p:pic>
      <p:pic>
        <p:nvPicPr>
          <p:cNvPr id="12" name="Picture 11">
            <a:extLst>
              <a:ext uri="{FF2B5EF4-FFF2-40B4-BE49-F238E27FC236}">
                <a16:creationId xmlns:a16="http://schemas.microsoft.com/office/drawing/2014/main" id="{32C63A77-ABAE-347B-7F7B-A1FD8DFD11AD}"/>
              </a:ext>
            </a:extLst>
          </p:cNvPr>
          <p:cNvPicPr>
            <a:picLocks noChangeAspect="1"/>
          </p:cNvPicPr>
          <p:nvPr/>
        </p:nvPicPr>
        <p:blipFill>
          <a:blip r:embed="rId3"/>
          <a:stretch>
            <a:fillRect/>
          </a:stretch>
        </p:blipFill>
        <p:spPr>
          <a:xfrm>
            <a:off x="4206585" y="4114339"/>
            <a:ext cx="4033406" cy="2544618"/>
          </a:xfrm>
          <a:prstGeom prst="rect">
            <a:avLst/>
          </a:prstGeom>
        </p:spPr>
      </p:pic>
      <p:pic>
        <p:nvPicPr>
          <p:cNvPr id="16" name="Picture 15">
            <a:extLst>
              <a:ext uri="{FF2B5EF4-FFF2-40B4-BE49-F238E27FC236}">
                <a16:creationId xmlns:a16="http://schemas.microsoft.com/office/drawing/2014/main" id="{CC00BC6D-CB59-D426-FBDF-95B0B469AFD6}"/>
              </a:ext>
            </a:extLst>
          </p:cNvPr>
          <p:cNvPicPr>
            <a:picLocks noChangeAspect="1"/>
          </p:cNvPicPr>
          <p:nvPr/>
        </p:nvPicPr>
        <p:blipFill>
          <a:blip r:embed="rId4"/>
          <a:stretch>
            <a:fillRect/>
          </a:stretch>
        </p:blipFill>
        <p:spPr>
          <a:xfrm>
            <a:off x="8375332" y="4012567"/>
            <a:ext cx="3682582" cy="2646390"/>
          </a:xfrm>
          <a:prstGeom prst="rect">
            <a:avLst/>
          </a:prstGeom>
        </p:spPr>
      </p:pic>
    </p:spTree>
    <p:extLst>
      <p:ext uri="{BB962C8B-B14F-4D97-AF65-F5344CB8AC3E}">
        <p14:creationId xmlns:p14="http://schemas.microsoft.com/office/powerpoint/2010/main" val="1798181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5951D-B8DF-806C-5520-18B7E5A71A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995BCCF-FCC3-F70C-6D4E-14C5D2D75FC6}"/>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Business Questions &amp; Answers</a:t>
            </a:r>
            <a:endParaRPr lang="en-US" sz="3200" b="1" kern="1200" cap="all" spc="600" baseline="0" dirty="0">
              <a:solidFill>
                <a:schemeClr val="bg1"/>
              </a:solidFill>
              <a:latin typeface="+mj-lt"/>
              <a:ea typeface="+mj-ea"/>
              <a:cs typeface="+mj-cs"/>
            </a:endParaRPr>
          </a:p>
        </p:txBody>
      </p:sp>
      <p:sp>
        <p:nvSpPr>
          <p:cNvPr id="5" name="Content Placeholder 2">
            <a:extLst>
              <a:ext uri="{FF2B5EF4-FFF2-40B4-BE49-F238E27FC236}">
                <a16:creationId xmlns:a16="http://schemas.microsoft.com/office/drawing/2014/main" id="{6A2187E6-B7FC-B9E9-65A7-6827B6A4D8EE}"/>
              </a:ext>
            </a:extLst>
          </p:cNvPr>
          <p:cNvSpPr txBox="1">
            <a:spLocks/>
          </p:cNvSpPr>
          <p:nvPr/>
        </p:nvSpPr>
        <p:spPr>
          <a:xfrm>
            <a:off x="819219" y="680397"/>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marL="228600" indent="-347472" algn="l">
              <a:lnSpc>
                <a:spcPct val="90000"/>
              </a:lnSpc>
              <a:buFont typeface="Courier New" panose="02070309020205020404" pitchFamily="49" charset="0"/>
              <a:buChar char="o"/>
            </a:pPr>
            <a:r>
              <a:rPr lang="en-US" sz="2400" b="1" dirty="0"/>
              <a:t>Are there noticeable trends or patterns? </a:t>
            </a:r>
          </a:p>
        </p:txBody>
      </p:sp>
      <p:sp>
        <p:nvSpPr>
          <p:cNvPr id="6" name="Content Placeholder 2">
            <a:extLst>
              <a:ext uri="{FF2B5EF4-FFF2-40B4-BE49-F238E27FC236}">
                <a16:creationId xmlns:a16="http://schemas.microsoft.com/office/drawing/2014/main" id="{FAD14DA5-E4C4-F36E-81C8-9B7CEDC5664F}"/>
              </a:ext>
            </a:extLst>
          </p:cNvPr>
          <p:cNvSpPr txBox="1">
            <a:spLocks/>
          </p:cNvSpPr>
          <p:nvPr/>
        </p:nvSpPr>
        <p:spPr>
          <a:xfrm>
            <a:off x="819219" y="1360794"/>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algn="l">
              <a:lnSpc>
                <a:spcPct val="90000"/>
              </a:lnSpc>
            </a:pPr>
            <a:r>
              <a:rPr lang="en-US" sz="2400" b="1" dirty="0">
                <a:latin typeface="+mj-lt"/>
              </a:rPr>
              <a:t>SQL ANSWER : </a:t>
            </a:r>
            <a:r>
              <a:rPr lang="en-US" sz="2400" b="1" dirty="0"/>
              <a:t>(Q</a:t>
            </a:r>
            <a:r>
              <a:rPr lang="ar-EG" sz="2400" dirty="0">
                <a:cs typeface="+mn-cs"/>
              </a:rPr>
              <a:t>10</a:t>
            </a:r>
            <a:r>
              <a:rPr lang="en-US" sz="2400" b="1" dirty="0"/>
              <a:t>), (Q11)  </a:t>
            </a:r>
          </a:p>
        </p:txBody>
      </p:sp>
      <p:sp>
        <p:nvSpPr>
          <p:cNvPr id="3" name="Content Placeholder 2">
            <a:extLst>
              <a:ext uri="{FF2B5EF4-FFF2-40B4-BE49-F238E27FC236}">
                <a16:creationId xmlns:a16="http://schemas.microsoft.com/office/drawing/2014/main" id="{AD920580-70E3-A9CB-87B6-DD8078295281}"/>
              </a:ext>
            </a:extLst>
          </p:cNvPr>
          <p:cNvSpPr txBox="1">
            <a:spLocks/>
          </p:cNvSpPr>
          <p:nvPr/>
        </p:nvSpPr>
        <p:spPr>
          <a:xfrm>
            <a:off x="819219" y="3063058"/>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algn="l">
              <a:lnSpc>
                <a:spcPct val="90000"/>
              </a:lnSpc>
            </a:pPr>
            <a:r>
              <a:rPr lang="en-US" sz="2400" b="1" dirty="0">
                <a:latin typeface="+mj-lt"/>
              </a:rPr>
              <a:t>DASHBOARD VISUAL(S) ANSWER : </a:t>
            </a:r>
            <a:endParaRPr lang="en-US" sz="2400" b="1" dirty="0"/>
          </a:p>
        </p:txBody>
      </p:sp>
      <p:pic>
        <p:nvPicPr>
          <p:cNvPr id="4" name="Picture 3">
            <a:extLst>
              <a:ext uri="{FF2B5EF4-FFF2-40B4-BE49-F238E27FC236}">
                <a16:creationId xmlns:a16="http://schemas.microsoft.com/office/drawing/2014/main" id="{977702B4-1A6C-6E3A-3B31-C54C7075F6F6}"/>
              </a:ext>
            </a:extLst>
          </p:cNvPr>
          <p:cNvPicPr>
            <a:picLocks noChangeAspect="1"/>
          </p:cNvPicPr>
          <p:nvPr/>
        </p:nvPicPr>
        <p:blipFill>
          <a:blip r:embed="rId2"/>
          <a:stretch>
            <a:fillRect/>
          </a:stretch>
        </p:blipFill>
        <p:spPr>
          <a:xfrm>
            <a:off x="6168736" y="3903503"/>
            <a:ext cx="5511796" cy="2954497"/>
          </a:xfrm>
          <a:prstGeom prst="rect">
            <a:avLst/>
          </a:prstGeom>
        </p:spPr>
      </p:pic>
      <p:pic>
        <p:nvPicPr>
          <p:cNvPr id="9" name="Picture 8">
            <a:extLst>
              <a:ext uri="{FF2B5EF4-FFF2-40B4-BE49-F238E27FC236}">
                <a16:creationId xmlns:a16="http://schemas.microsoft.com/office/drawing/2014/main" id="{49AE3934-0130-971A-FE55-DC61E92614BB}"/>
              </a:ext>
            </a:extLst>
          </p:cNvPr>
          <p:cNvPicPr>
            <a:picLocks noChangeAspect="1"/>
          </p:cNvPicPr>
          <p:nvPr/>
        </p:nvPicPr>
        <p:blipFill>
          <a:blip r:embed="rId3"/>
          <a:stretch>
            <a:fillRect/>
          </a:stretch>
        </p:blipFill>
        <p:spPr>
          <a:xfrm>
            <a:off x="1950097" y="4041159"/>
            <a:ext cx="3983112" cy="2816841"/>
          </a:xfrm>
          <a:prstGeom prst="rect">
            <a:avLst/>
          </a:prstGeom>
        </p:spPr>
      </p:pic>
    </p:spTree>
    <p:extLst>
      <p:ext uri="{BB962C8B-B14F-4D97-AF65-F5344CB8AC3E}">
        <p14:creationId xmlns:p14="http://schemas.microsoft.com/office/powerpoint/2010/main" val="2346285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3E0A4-8198-2399-7D0A-41ABD71459F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0873EE-261F-F144-D16A-DF12FE4B04DA}"/>
              </a:ext>
            </a:extLst>
          </p:cNvPr>
          <p:cNvSpPr txBox="1"/>
          <p:nvPr/>
        </p:nvSpPr>
        <p:spPr>
          <a:xfrm>
            <a:off x="0" y="0"/>
            <a:ext cx="12192000" cy="106984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b="1" cap="all" spc="600" dirty="0">
                <a:ln w="28575">
                  <a:noFill/>
                  <a:prstDash val="solid"/>
                </a:ln>
                <a:solidFill>
                  <a:schemeClr val="bg1"/>
                </a:solidFill>
                <a:latin typeface="+mj-lt"/>
                <a:ea typeface="+mj-ea"/>
                <a:cs typeface="+mj-cs"/>
              </a:rPr>
              <a:t>Business Questions &amp; Answers</a:t>
            </a:r>
            <a:endParaRPr lang="en-US" sz="3200" b="1" kern="1200" cap="all" spc="600" baseline="0" dirty="0">
              <a:solidFill>
                <a:schemeClr val="bg1"/>
              </a:solidFill>
              <a:latin typeface="+mj-lt"/>
              <a:ea typeface="+mj-ea"/>
              <a:cs typeface="+mj-cs"/>
            </a:endParaRPr>
          </a:p>
        </p:txBody>
      </p:sp>
      <p:sp>
        <p:nvSpPr>
          <p:cNvPr id="5" name="Content Placeholder 2">
            <a:extLst>
              <a:ext uri="{FF2B5EF4-FFF2-40B4-BE49-F238E27FC236}">
                <a16:creationId xmlns:a16="http://schemas.microsoft.com/office/drawing/2014/main" id="{FDB409B4-8DEC-D412-253D-DE6B2E9B3790}"/>
              </a:ext>
            </a:extLst>
          </p:cNvPr>
          <p:cNvSpPr txBox="1">
            <a:spLocks/>
          </p:cNvSpPr>
          <p:nvPr/>
        </p:nvSpPr>
        <p:spPr>
          <a:xfrm>
            <a:off x="819219" y="680397"/>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marL="228600" indent="-347472" algn="l">
              <a:lnSpc>
                <a:spcPct val="90000"/>
              </a:lnSpc>
              <a:buFont typeface="Courier New" panose="02070309020205020404" pitchFamily="49" charset="0"/>
              <a:buChar char="o"/>
            </a:pPr>
            <a:r>
              <a:rPr lang="en-US" sz="2400" b="1" dirty="0"/>
              <a:t>What recommendations can be made? </a:t>
            </a:r>
          </a:p>
        </p:txBody>
      </p:sp>
      <p:sp>
        <p:nvSpPr>
          <p:cNvPr id="6" name="Content Placeholder 2">
            <a:extLst>
              <a:ext uri="{FF2B5EF4-FFF2-40B4-BE49-F238E27FC236}">
                <a16:creationId xmlns:a16="http://schemas.microsoft.com/office/drawing/2014/main" id="{9290AE97-5A12-1D82-6F62-44AC4273A738}"/>
              </a:ext>
            </a:extLst>
          </p:cNvPr>
          <p:cNvSpPr txBox="1">
            <a:spLocks/>
          </p:cNvSpPr>
          <p:nvPr/>
        </p:nvSpPr>
        <p:spPr>
          <a:xfrm>
            <a:off x="819219" y="1360794"/>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algn="l">
              <a:lnSpc>
                <a:spcPct val="90000"/>
              </a:lnSpc>
            </a:pPr>
            <a:r>
              <a:rPr lang="en-US" sz="2400" b="1" dirty="0">
                <a:latin typeface="+mj-lt"/>
              </a:rPr>
              <a:t>SQL ANSWER : </a:t>
            </a:r>
            <a:r>
              <a:rPr lang="en-US" sz="2400" b="1" dirty="0"/>
              <a:t>(Q2), (Q8), (Q14)  </a:t>
            </a:r>
          </a:p>
        </p:txBody>
      </p:sp>
      <p:sp>
        <p:nvSpPr>
          <p:cNvPr id="3" name="Content Placeholder 2">
            <a:extLst>
              <a:ext uri="{FF2B5EF4-FFF2-40B4-BE49-F238E27FC236}">
                <a16:creationId xmlns:a16="http://schemas.microsoft.com/office/drawing/2014/main" id="{40C7174C-5856-1AF3-CD3C-51AF13A75E5C}"/>
              </a:ext>
            </a:extLst>
          </p:cNvPr>
          <p:cNvSpPr txBox="1">
            <a:spLocks/>
          </p:cNvSpPr>
          <p:nvPr/>
        </p:nvSpPr>
        <p:spPr>
          <a:xfrm>
            <a:off x="819219" y="3208531"/>
            <a:ext cx="8283217" cy="106984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1pPr>
            <a:lvl2pPr marL="457200" indent="0" algn="ctr" defTabSz="914400" rtl="0" eaLnBrk="1" latinLnBrk="0" hangingPunct="1">
              <a:lnSpc>
                <a:spcPct val="90000"/>
              </a:lnSpc>
              <a:spcBef>
                <a:spcPts val="500"/>
              </a:spcBef>
              <a:buClr>
                <a:schemeClr val="accent6"/>
              </a:buClr>
              <a:buFont typeface="Courier New" panose="02070309020205020404" pitchFamily="49" charset="0"/>
              <a:buNone/>
              <a:defRPr sz="2000" kern="1200">
                <a:solidFill>
                  <a:schemeClr val="bg1"/>
                </a:solidFill>
                <a:latin typeface="+mn-lt"/>
                <a:ea typeface="+mn-ea"/>
                <a:cs typeface="Segoe UI" panose="020B0502040204020203" pitchFamily="34" charset="0"/>
              </a:defRPr>
            </a:lvl2pPr>
            <a:lvl3pPr marL="914400" indent="0" algn="ctr" defTabSz="914400" rtl="0" eaLnBrk="1" latinLnBrk="0" hangingPunct="1">
              <a:lnSpc>
                <a:spcPct val="90000"/>
              </a:lnSpc>
              <a:spcBef>
                <a:spcPts val="500"/>
              </a:spcBef>
              <a:buClr>
                <a:schemeClr val="accent6"/>
              </a:buClr>
              <a:buFont typeface="Courier New" panose="02070309020205020404" pitchFamily="49" charset="0"/>
              <a:buNone/>
              <a:defRPr sz="1800" kern="1200">
                <a:solidFill>
                  <a:schemeClr val="bg1"/>
                </a:solidFill>
                <a:latin typeface="+mn-lt"/>
                <a:ea typeface="+mn-ea"/>
                <a:cs typeface="Segoe UI" panose="020B0502040204020203" pitchFamily="34" charset="0"/>
              </a:defRPr>
            </a:lvl3pPr>
            <a:lvl4pPr marL="13716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4pPr>
            <a:lvl5pPr marL="1828800" indent="0" algn="ctr" defTabSz="914400" rtl="0" eaLnBrk="1" latinLnBrk="0" hangingPunct="1">
              <a:lnSpc>
                <a:spcPct val="90000"/>
              </a:lnSpc>
              <a:spcBef>
                <a:spcPts val="500"/>
              </a:spcBef>
              <a:buClr>
                <a:schemeClr val="accent6"/>
              </a:buClr>
              <a:buFont typeface="Courier New" panose="02070309020205020404" pitchFamily="49" charset="0"/>
              <a:buNone/>
              <a:defRPr sz="1600" kern="1200">
                <a:solidFill>
                  <a:schemeClr val="bg1"/>
                </a:solidFill>
                <a:latin typeface="+mn-lt"/>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28600" indent="-347472" algn="l">
              <a:lnSpc>
                <a:spcPct val="90000"/>
              </a:lnSpc>
              <a:buFont typeface="Courier New" panose="02070309020205020404" pitchFamily="49" charset="0"/>
              <a:buChar char="o"/>
            </a:pPr>
            <a:endParaRPr lang="en-US" sz="2200" b="1" dirty="0"/>
          </a:p>
          <a:p>
            <a:pPr algn="l">
              <a:lnSpc>
                <a:spcPct val="90000"/>
              </a:lnSpc>
            </a:pPr>
            <a:r>
              <a:rPr lang="en-US" sz="2400" b="1" dirty="0">
                <a:latin typeface="+mj-lt"/>
              </a:rPr>
              <a:t>DASHBOARD VISUAL(S) ANSWER : </a:t>
            </a:r>
            <a:endParaRPr lang="en-US" sz="2400" b="1" dirty="0"/>
          </a:p>
        </p:txBody>
      </p:sp>
      <p:pic>
        <p:nvPicPr>
          <p:cNvPr id="8" name="Picture 7">
            <a:extLst>
              <a:ext uri="{FF2B5EF4-FFF2-40B4-BE49-F238E27FC236}">
                <a16:creationId xmlns:a16="http://schemas.microsoft.com/office/drawing/2014/main" id="{05C6139D-8135-9391-A485-EA18BD5317D8}"/>
              </a:ext>
            </a:extLst>
          </p:cNvPr>
          <p:cNvPicPr>
            <a:picLocks noChangeAspect="1"/>
          </p:cNvPicPr>
          <p:nvPr/>
        </p:nvPicPr>
        <p:blipFill>
          <a:blip r:embed="rId2"/>
          <a:stretch>
            <a:fillRect/>
          </a:stretch>
        </p:blipFill>
        <p:spPr>
          <a:xfrm>
            <a:off x="955252" y="4227912"/>
            <a:ext cx="5004715" cy="2630088"/>
          </a:xfrm>
          <a:prstGeom prst="rect">
            <a:avLst/>
          </a:prstGeom>
        </p:spPr>
      </p:pic>
      <p:pic>
        <p:nvPicPr>
          <p:cNvPr id="10" name="Picture 9">
            <a:extLst>
              <a:ext uri="{FF2B5EF4-FFF2-40B4-BE49-F238E27FC236}">
                <a16:creationId xmlns:a16="http://schemas.microsoft.com/office/drawing/2014/main" id="{55DB922F-3A89-2E0B-0297-E7B93A860B1E}"/>
              </a:ext>
            </a:extLst>
          </p:cNvPr>
          <p:cNvPicPr>
            <a:picLocks noChangeAspect="1"/>
          </p:cNvPicPr>
          <p:nvPr/>
        </p:nvPicPr>
        <p:blipFill>
          <a:blip r:embed="rId3"/>
          <a:stretch>
            <a:fillRect/>
          </a:stretch>
        </p:blipFill>
        <p:spPr>
          <a:xfrm>
            <a:off x="6232035" y="3694128"/>
            <a:ext cx="5374610" cy="3163872"/>
          </a:xfrm>
          <a:prstGeom prst="rect">
            <a:avLst/>
          </a:prstGeom>
        </p:spPr>
      </p:pic>
    </p:spTree>
    <p:extLst>
      <p:ext uri="{BB962C8B-B14F-4D97-AF65-F5344CB8AC3E}">
        <p14:creationId xmlns:p14="http://schemas.microsoft.com/office/powerpoint/2010/main" val="1647872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459FCA3-0124-0FA6-220B-D72E8F8034C8}"/>
              </a:ext>
            </a:extLst>
          </p:cNvPr>
          <p:cNvSpPr>
            <a:spLocks noGrp="1"/>
          </p:cNvSpPr>
          <p:nvPr>
            <p:ph type="sldNum" sz="quarter" idx="12"/>
          </p:nvPr>
        </p:nvSpPr>
        <p:spPr/>
        <p:txBody>
          <a:bodyPr/>
          <a:lstStyle/>
          <a:p>
            <a:fld id="{294A09A9-5501-47C1-A89A-A340965A2BE2}" type="slidenum">
              <a:rPr lang="en-US" smtClean="0"/>
              <a:t>33</a:t>
            </a:fld>
            <a:endParaRPr lang="en-US" dirty="0"/>
          </a:p>
        </p:txBody>
      </p:sp>
      <p:sp>
        <p:nvSpPr>
          <p:cNvPr id="2" name="TextBox 1">
            <a:extLst>
              <a:ext uri="{FF2B5EF4-FFF2-40B4-BE49-F238E27FC236}">
                <a16:creationId xmlns:a16="http://schemas.microsoft.com/office/drawing/2014/main" id="{AC7D7BFB-438E-59E0-6294-4BA56CAAF44F}"/>
              </a:ext>
            </a:extLst>
          </p:cNvPr>
          <p:cNvSpPr txBox="1"/>
          <p:nvPr/>
        </p:nvSpPr>
        <p:spPr>
          <a:xfrm>
            <a:off x="1114424" y="339632"/>
            <a:ext cx="8050357" cy="707886"/>
          </a:xfrm>
          <a:prstGeom prst="rect">
            <a:avLst/>
          </a:prstGeom>
          <a:noFill/>
        </p:spPr>
        <p:txBody>
          <a:bodyPr wrap="square">
            <a:spAutoFit/>
          </a:bodyPr>
          <a:lstStyle/>
          <a:p>
            <a:r>
              <a:rPr kumimoji="0" lang="en-US" sz="4000" b="1" i="0" u="none" strike="noStrike" kern="1200" cap="all" spc="600" normalizeH="0" baseline="0" noProof="0" dirty="0">
                <a:ln w="28575">
                  <a:noFill/>
                  <a:prstDash val="solid"/>
                </a:ln>
                <a:solidFill>
                  <a:srgbClr val="FFFFFF"/>
                </a:solidFill>
                <a:effectLst/>
                <a:uLnTx/>
                <a:uFillTx/>
                <a:latin typeface="Tw Cen MT" panose="020B0602020104020603" pitchFamily="34" charset="77"/>
                <a:ea typeface="+mj-ea"/>
                <a:cs typeface="+mj-cs"/>
              </a:rPr>
              <a:t>Final recommendations</a:t>
            </a:r>
            <a:endParaRPr lang="en-US" dirty="0"/>
          </a:p>
        </p:txBody>
      </p:sp>
      <p:sp>
        <p:nvSpPr>
          <p:cNvPr id="3" name="Content Placeholder 2">
            <a:extLst>
              <a:ext uri="{FF2B5EF4-FFF2-40B4-BE49-F238E27FC236}">
                <a16:creationId xmlns:a16="http://schemas.microsoft.com/office/drawing/2014/main" id="{1CCD9A7A-8547-E89D-125B-D1F3D6B544C2}"/>
              </a:ext>
            </a:extLst>
          </p:cNvPr>
          <p:cNvSpPr txBox="1">
            <a:spLocks/>
          </p:cNvSpPr>
          <p:nvPr/>
        </p:nvSpPr>
        <p:spPr>
          <a:xfrm>
            <a:off x="850392" y="863334"/>
            <a:ext cx="10413353" cy="578168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Clr>
                <a:schemeClr val="accent6"/>
              </a:buClr>
              <a:buFont typeface="Courier New" panose="02070309020205020404" pitchFamily="49" charset="0"/>
              <a:buNone/>
              <a:defRPr sz="2400" b="1" kern="1200">
                <a:solidFill>
                  <a:schemeClr val="bg1"/>
                </a:solidFill>
                <a:latin typeface="+mj-lt"/>
                <a:ea typeface="+mn-ea"/>
                <a:cs typeface="Segoe UI" panose="020B0502040204020203" pitchFamily="34" charset="0"/>
              </a:defRPr>
            </a:lvl1pPr>
            <a:lvl2pPr marL="457200" indent="0" algn="l" defTabSz="914400" rtl="0" eaLnBrk="1" latinLnBrk="0" hangingPunct="1">
              <a:lnSpc>
                <a:spcPct val="90000"/>
              </a:lnSpc>
              <a:spcBef>
                <a:spcPts val="500"/>
              </a:spcBef>
              <a:buClr>
                <a:schemeClr val="accent6"/>
              </a:buClr>
              <a:buFont typeface="Courier New" panose="02070309020205020404" pitchFamily="49" charset="0"/>
              <a:buNone/>
              <a:defRPr sz="2000" b="1" kern="1200">
                <a:solidFill>
                  <a:schemeClr val="bg1"/>
                </a:solidFill>
                <a:latin typeface="+mn-lt"/>
                <a:ea typeface="+mn-ea"/>
                <a:cs typeface="Segoe UI" panose="020B0502040204020203" pitchFamily="34" charset="0"/>
              </a:defRPr>
            </a:lvl2pPr>
            <a:lvl3pPr marL="914400" indent="0" algn="l" defTabSz="914400" rtl="0" eaLnBrk="1" latinLnBrk="0" hangingPunct="1">
              <a:lnSpc>
                <a:spcPct val="90000"/>
              </a:lnSpc>
              <a:spcBef>
                <a:spcPts val="500"/>
              </a:spcBef>
              <a:buClr>
                <a:schemeClr val="accent6"/>
              </a:buClr>
              <a:buFont typeface="Courier New" panose="02070309020205020404" pitchFamily="49" charset="0"/>
              <a:buNone/>
              <a:defRPr sz="1800" b="1" kern="1200">
                <a:solidFill>
                  <a:schemeClr val="bg1"/>
                </a:solidFill>
                <a:latin typeface="+mn-lt"/>
                <a:ea typeface="+mn-ea"/>
                <a:cs typeface="Segoe UI" panose="020B0502040204020203" pitchFamily="34" charset="0"/>
              </a:defRPr>
            </a:lvl3pPr>
            <a:lvl4pPr marL="1371600" indent="0" algn="l" defTabSz="914400"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4pPr>
            <a:lvl5pPr marL="1828800" indent="0" algn="l" defTabSz="914400" rtl="0" eaLnBrk="1" latinLnBrk="0" hangingPunct="1">
              <a:lnSpc>
                <a:spcPct val="90000"/>
              </a:lnSpc>
              <a:spcBef>
                <a:spcPts val="500"/>
              </a:spcBef>
              <a:buClr>
                <a:schemeClr val="accent6"/>
              </a:buClr>
              <a:buFont typeface="Courier New" panose="02070309020205020404" pitchFamily="49" charset="0"/>
              <a:buNone/>
              <a:defRPr sz="1600" b="1" kern="1200">
                <a:solidFill>
                  <a:schemeClr val="bg1"/>
                </a:solidFill>
                <a:latin typeface="+mn-lt"/>
                <a:ea typeface="+mn-ea"/>
                <a:cs typeface="Segoe UI" panose="020B0502040204020203"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50000"/>
              </a:lnSpc>
            </a:pPr>
            <a:endParaRPr lang="en-US" sz="800" dirty="0">
              <a:latin typeface="Segoe UI Light" panose="020B0502040204020203" pitchFamily="34" charset="0"/>
              <a:cs typeface="Segoe UI Light" panose="020B0502040204020203" pitchFamily="34" charset="0"/>
            </a:endParaRPr>
          </a:p>
          <a:p>
            <a:pPr marL="342900" indent="-342900">
              <a:lnSpc>
                <a:spcPct val="150000"/>
              </a:lnSpc>
              <a:buFont typeface="Courier New" panose="02070309020205020404" pitchFamily="49" charset="0"/>
              <a:buChar char="o"/>
            </a:pPr>
            <a:r>
              <a:rPr lang="en-US" sz="2200" dirty="0">
                <a:latin typeface="Segoe UI Light" panose="020B0502040204020203" pitchFamily="34" charset="0"/>
                <a:cs typeface="Segoe UI Light" panose="020B0502040204020203" pitchFamily="34" charset="0"/>
              </a:rPr>
              <a:t>Urgent Maintenance for </a:t>
            </a:r>
            <a:r>
              <a:rPr lang="en-US" sz="2200" dirty="0">
                <a:solidFill>
                  <a:schemeClr val="accent2"/>
                </a:solidFill>
                <a:latin typeface="Segoe UI Light" panose="020B0502040204020203" pitchFamily="34" charset="0"/>
                <a:cs typeface="Segoe UI Light" panose="020B0502040204020203" pitchFamily="34" charset="0"/>
              </a:rPr>
              <a:t>ATM ID 200 </a:t>
            </a:r>
            <a:r>
              <a:rPr lang="en-US" sz="2200" dirty="0">
                <a:latin typeface="Segoe UI Light" panose="020B0502040204020203" pitchFamily="34" charset="0"/>
                <a:cs typeface="Segoe UI Light" panose="020B0502040204020203" pitchFamily="34" charset="0"/>
              </a:rPr>
              <a:t>since it is the second highest performer </a:t>
            </a:r>
            <a:r>
              <a:rPr lang="en-US" sz="2200" dirty="0">
                <a:solidFill>
                  <a:schemeClr val="accent2"/>
                </a:solidFill>
                <a:latin typeface="Segoe UI Light" panose="020B0502040204020203" pitchFamily="34" charset="0"/>
                <a:cs typeface="Segoe UI Light" panose="020B0502040204020203" pitchFamily="34" charset="0"/>
              </a:rPr>
              <a:t>($262k)</a:t>
            </a:r>
            <a:r>
              <a:rPr lang="en-US" sz="2200" dirty="0">
                <a:latin typeface="Segoe UI Light" panose="020B0502040204020203" pitchFamily="34" charset="0"/>
                <a:cs typeface="Segoe UI Light" panose="020B0502040204020203" pitchFamily="34" charset="0"/>
              </a:rPr>
              <a:t>.</a:t>
            </a:r>
          </a:p>
          <a:p>
            <a:pPr marL="342900" indent="-342900">
              <a:lnSpc>
                <a:spcPct val="150000"/>
              </a:lnSpc>
              <a:buFont typeface="Courier New" panose="02070309020205020404" pitchFamily="49" charset="0"/>
              <a:buChar char="o"/>
            </a:pPr>
            <a:r>
              <a:rPr lang="en-US" sz="2200" dirty="0">
                <a:latin typeface="Segoe UI Light" panose="020B0502040204020203" pitchFamily="34" charset="0"/>
                <a:cs typeface="Segoe UI Light" panose="020B0502040204020203" pitchFamily="34" charset="0"/>
              </a:rPr>
              <a:t>Target the </a:t>
            </a:r>
            <a:r>
              <a:rPr lang="en-US" sz="2200" dirty="0">
                <a:solidFill>
                  <a:schemeClr val="accent2"/>
                </a:solidFill>
                <a:latin typeface="Segoe UI Light" panose="020B0502040204020203" pitchFamily="34" charset="0"/>
                <a:cs typeface="Segoe UI Light" panose="020B0502040204020203" pitchFamily="34" charset="0"/>
              </a:rPr>
              <a:t>50+ age group </a:t>
            </a:r>
            <a:r>
              <a:rPr lang="en-US" sz="2200" dirty="0">
                <a:latin typeface="Segoe UI Light" panose="020B0502040204020203" pitchFamily="34" charset="0"/>
                <a:cs typeface="Segoe UI Light" panose="020B0502040204020203" pitchFamily="34" charset="0"/>
              </a:rPr>
              <a:t>with retirement and wealth management products since they hold the majority of the $824M in balances.</a:t>
            </a:r>
          </a:p>
          <a:p>
            <a:pPr marL="342900" indent="-342900">
              <a:lnSpc>
                <a:spcPct val="150000"/>
              </a:lnSpc>
              <a:buFont typeface="Courier New" panose="02070309020205020404" pitchFamily="49" charset="0"/>
              <a:buChar char="o"/>
            </a:pPr>
            <a:r>
              <a:rPr lang="en-US" sz="2200" dirty="0">
                <a:latin typeface="Segoe UI Light" panose="020B0502040204020203" pitchFamily="34" charset="0"/>
                <a:cs typeface="Segoe UI Light" panose="020B0502040204020203" pitchFamily="34" charset="0"/>
              </a:rPr>
              <a:t>The bank should Implement stricter credit score requirements and income verification for loans that fall into the </a:t>
            </a:r>
            <a:r>
              <a:rPr lang="en-US" sz="2200" dirty="0">
                <a:solidFill>
                  <a:srgbClr val="FF0000"/>
                </a:solidFill>
                <a:latin typeface="Segoe UI Light" panose="020B0502040204020203" pitchFamily="34" charset="0"/>
                <a:cs typeface="Segoe UI Light" panose="020B0502040204020203" pitchFamily="34" charset="0"/>
              </a:rPr>
              <a:t>High Risk </a:t>
            </a:r>
            <a:r>
              <a:rPr lang="en-US" sz="2200" dirty="0">
                <a:latin typeface="Segoe UI Light" panose="020B0502040204020203" pitchFamily="34" charset="0"/>
                <a:cs typeface="Segoe UI Light" panose="020B0502040204020203" pitchFamily="34" charset="0"/>
              </a:rPr>
              <a:t>category.</a:t>
            </a:r>
          </a:p>
          <a:p>
            <a:pPr marL="342900" indent="-342900">
              <a:lnSpc>
                <a:spcPct val="150000"/>
              </a:lnSpc>
              <a:buFont typeface="Courier New" panose="02070309020205020404" pitchFamily="49" charset="0"/>
              <a:buChar char="o"/>
            </a:pPr>
            <a:r>
              <a:rPr lang="en-US" sz="2200" b="1" dirty="0">
                <a:solidFill>
                  <a:srgbClr val="FFFFFF"/>
                </a:solidFill>
                <a:latin typeface="Segoe UI Light" panose="020B0502040204020203" pitchFamily="34" charset="0"/>
                <a:cs typeface="Segoe UI Light" panose="020B0502040204020203" pitchFamily="34" charset="0"/>
              </a:rPr>
              <a:t>T</a:t>
            </a:r>
            <a:r>
              <a:rPr kumimoji="0" lang="en-US" sz="22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he bank </a:t>
            </a:r>
            <a:r>
              <a:rPr kumimoji="0" lang="en-US" sz="2200"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should</a:t>
            </a:r>
            <a:r>
              <a:rPr kumimoji="0" lang="en-US" sz="2200" b="1" i="0" u="none" strike="noStrike" kern="1200" cap="none" spc="0" normalizeH="0" baseline="0" noProof="0" dirty="0">
                <a:ln>
                  <a:noFill/>
                </a:ln>
                <a:solidFill>
                  <a:srgbClr val="FFFFFF"/>
                </a:solidFill>
                <a:effectLst/>
                <a:uLnTx/>
                <a:uFillTx/>
                <a:latin typeface="Segoe UI Light" panose="020B0502040204020203" pitchFamily="34" charset="0"/>
                <a:ea typeface="+mn-ea"/>
                <a:cs typeface="Segoe UI Light" panose="020B0502040204020203" pitchFamily="34" charset="0"/>
              </a:rPr>
              <a:t> target their high-balance Debit card users to upsell them a Credit card to increase fee revenue.</a:t>
            </a:r>
          </a:p>
          <a:p>
            <a:pPr marL="342900" indent="-342900">
              <a:lnSpc>
                <a:spcPct val="150000"/>
              </a:lnSpc>
              <a:buFont typeface="Courier New" panose="02070309020205020404" pitchFamily="49" charset="0"/>
              <a:buChar char="o"/>
            </a:pPr>
            <a:r>
              <a:rPr lang="en-US" sz="2200" dirty="0">
                <a:latin typeface="Segoe UI Light" panose="020B0502040204020203" pitchFamily="34" charset="0"/>
                <a:cs typeface="Segoe UI Light" panose="020B0502040204020203" pitchFamily="34" charset="0"/>
              </a:rPr>
              <a:t>Audit the broken compensation structure, as a Clerk is currently the highest paid employee out-earning all Managers.</a:t>
            </a:r>
          </a:p>
          <a:p>
            <a:pPr marL="342900" indent="-342900">
              <a:lnSpc>
                <a:spcPct val="150000"/>
              </a:lnSpc>
              <a:buFont typeface="Courier New" panose="02070309020205020404" pitchFamily="49" charset="0"/>
              <a:buChar char="o"/>
            </a:pPr>
            <a:endParaRPr lang="en-US"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8770809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p:txBody>
          <a:bodyPr/>
          <a:lstStyle/>
          <a:p>
            <a:r>
              <a:rPr lang="en-US" sz="4800" b="1" spc="600" dirty="0">
                <a:ln w="28575">
                  <a:noFill/>
                  <a:prstDash val="solid"/>
                </a:ln>
                <a:solidFill>
                  <a:schemeClr val="bg1"/>
                </a:solidFill>
                <a:latin typeface="Tw Cen MT" panose="020B0602020104020603" pitchFamily="34" charset="77"/>
              </a:rPr>
              <a:t>THANK YOU</a:t>
            </a:r>
            <a:endParaRPr lang="en-US" dirty="0"/>
          </a:p>
        </p:txBody>
      </p:sp>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1F1912-3146-44AF-A389-9E8B77BB3688}">
  <ds:schemaRefs>
    <ds:schemaRef ds:uri="http://schemas.microsoft.com/sharepoint/v3/contenttype/forms"/>
  </ds:schemaRefs>
</ds:datastoreItem>
</file>

<file path=customXml/itemProps2.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TotalTime>577</TotalTime>
  <Words>1399</Words>
  <Application>Microsoft Office PowerPoint</Application>
  <PresentationFormat>Widescreen</PresentationFormat>
  <Paragraphs>127</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Courier New</vt:lpstr>
      <vt:lpstr>quote-cjk-patch</vt:lpstr>
      <vt:lpstr>Segoe UI Light</vt:lpstr>
      <vt:lpstr>Tw Cen MT</vt:lpstr>
      <vt:lpstr>Office Theme</vt:lpstr>
      <vt:lpstr>Bank Database Analysis &amp; Power BI Dashboard</vt:lpstr>
      <vt:lpstr>DataSet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 Mohab</dc:creator>
  <cp:lastModifiedBy>Aya Mohab</cp:lastModifiedBy>
  <cp:revision>154</cp:revision>
  <dcterms:created xsi:type="dcterms:W3CDTF">2026-08-30T12:52:30Z</dcterms:created>
  <dcterms:modified xsi:type="dcterms:W3CDTF">2026-08-31T17:05:11Z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